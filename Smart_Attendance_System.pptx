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415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Introduce the project: a secure QR-based attendance system with multi-layer verification that eliminates proxy attendance. Mention the team and the EdTech problem domain.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attendance wastes time and basic QR attendance is easy to cheat: QR photos get shared, GPS can be faked, friends can mark proxy attendance. The right panel pairs each key challenge with how our system answers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innovation is five verification layers instead of just a QR scan: identity, a short-lived one-time QR token, GPS location, device fingerprint and a live selfie. Only a student who passes every layer is marked present, and faculty see it instantly in the analytics dashboard.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steps from faculty login to the updated dashboard. The highlighted steps (GPS, device, face, QR expiry, JWT) are the security checks that block proxy attendance. The two lanes at the bottom show the faculty and student journeys.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MERN stack end to end: React front end, Node and Express back end, MongoDB for flexible attendance records, JWT plus bcrypt for security, and MongoDB Atlas with Render for cloud hosting. The table lists each core algorithm with its time complexity; face verification and report generation scale with 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tiles are illustrative placeholders for the seven screens: login, student dashboard, faculty dashboard, QR generation, QR scanner, attendance success and attendance report. Replace each with a real screenshot of the running app before presenting. Highlight the under-3-seconds marking time and the benefits along the bottom.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have a working MERN application with secure QR attendance, JWT authentication, a dashboard and MongoDB storage. Next: AI face recognition, fingerprint, NFC and BLE beacons, parent notifications, a mobile app, AI attendance prediction and offline sync. It scales to schools, colleges, universities, offices and training institutes. Close with the takeaway, then open for questions. Add your real contact details and GitHub link.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62661"/>
            <a:ext cx="10566400" cy="474980"/>
          </a:xfrm>
          <a:prstGeom prst="rect">
            <a:avLst/>
          </a:prstGeom>
          <a:noFill/>
          <a:ln/>
        </p:spPr>
        <p:txBody>
          <a:bodyPr wrap="square" lIns="0" tIns="0" rIns="0" bIns="0" rtlCol="0" anchor="t"/>
          <a:lstStyle>
            <a:lvl1pPr marL="0" indent="0" algn="l">
              <a:lnSpc>
                <a:spcPct val="115000"/>
              </a:lnSpc>
              <a:buNone/>
              <a:defRPr lang="en-US" sz="3400" dirty="0">
                <a:solidFill>
                  <a:srgbClr val="1B2430"/>
                </a:solidFill>
                <a:latin typeface="Rubik" pitchFamily="34" charset="0"/>
                <a:ea typeface="Rubik" pitchFamily="34" charset="-122"/>
                <a:cs typeface="Rubik"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742441"/>
            <a:ext cx="10566400" cy="4302759"/>
          </a:xfrm>
          <a:prstGeom prst="rect">
            <a:avLst/>
          </a:prstGeom>
          <a:noFill/>
          <a:ln/>
        </p:spPr>
        <p:txBody>
          <a:bodyPr wrap="square" lIns="0" tIns="0" rIns="0" bIns="0" rtlCol="0" anchor="t"/>
          <a:lstStyle>
            <a:lvl1pPr marL="0" indent="0" algn="l">
              <a:lnSpc>
                <a:spcPct val="140000"/>
              </a:lnSpc>
              <a:buNone/>
              <a:defRPr lang="en-US" sz="1600" dirty="0">
                <a:solidFill>
                  <a:srgbClr val="1B243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62661"/>
            <a:ext cx="10566400" cy="474980"/>
          </a:xfrm>
          <a:prstGeom prst="rect">
            <a:avLst/>
          </a:prstGeom>
          <a:noFill/>
          <a:ln/>
        </p:spPr>
        <p:txBody>
          <a:bodyPr wrap="square" lIns="0" tIns="0" rIns="0" bIns="0" rtlCol="0" anchor="t"/>
          <a:lstStyle>
            <a:lvl1pPr marL="0" indent="0" algn="l">
              <a:lnSpc>
                <a:spcPct val="115000"/>
              </a:lnSpc>
              <a:buNone/>
              <a:defRPr lang="en-US" sz="3400" dirty="0">
                <a:solidFill>
                  <a:srgbClr val="FDFEFF"/>
                </a:solidFill>
                <a:latin typeface="Rubik" pitchFamily="34" charset="0"/>
                <a:ea typeface="Rubik" pitchFamily="34" charset="-122"/>
                <a:cs typeface="Rubik"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742441"/>
            <a:ext cx="10566400" cy="4302759"/>
          </a:xfrm>
          <a:prstGeom prst="rect">
            <a:avLst/>
          </a:prstGeom>
          <a:noFill/>
          <a:ln/>
        </p:spPr>
        <p:txBody>
          <a:bodyPr wrap="square" lIns="0" tIns="0" rIns="0" bIns="0" rtlCol="0" anchor="t"/>
          <a:lstStyle>
            <a:lvl1pPr marL="0" indent="0" algn="l">
              <a:lnSpc>
                <a:spcPct val="140000"/>
              </a:lnSpc>
              <a:buNone/>
              <a:defRPr lang="en-US" sz="1600" dirty="0">
                <a:solidFill>
                  <a:srgbClr val="FDFEF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16744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62661"/>
            <a:ext cx="10566400" cy="474980"/>
          </a:xfrm>
          <a:prstGeom prst="rect">
            <a:avLst/>
          </a:prstGeom>
          <a:noFill/>
          <a:ln/>
        </p:spPr>
        <p:txBody>
          <a:bodyPr wrap="square" lIns="0" tIns="0" rIns="0" bIns="0" rtlCol="0" anchor="t"/>
          <a:lstStyle>
            <a:lvl1pPr marL="0" indent="0" algn="l">
              <a:lnSpc>
                <a:spcPct val="115000"/>
              </a:lnSpc>
              <a:buNone/>
              <a:defRPr lang="en-US" sz="3400" dirty="0">
                <a:solidFill>
                  <a:srgbClr val="1B2430"/>
                </a:solidFill>
                <a:latin typeface="Rubik" pitchFamily="34" charset="0"/>
                <a:ea typeface="Rubik" pitchFamily="34" charset="-122"/>
                <a:cs typeface="Rubik"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742441"/>
            <a:ext cx="10566400" cy="4302759"/>
          </a:xfrm>
          <a:prstGeom prst="rect">
            <a:avLst/>
          </a:prstGeom>
          <a:noFill/>
          <a:ln/>
        </p:spPr>
        <p:txBody>
          <a:bodyPr wrap="square" lIns="0" tIns="0" rIns="0" bIns="0" rtlCol="0" anchor="t"/>
          <a:lstStyle>
            <a:lvl1pPr marL="0" indent="0" algn="l">
              <a:lnSpc>
                <a:spcPct val="140000"/>
              </a:lnSpc>
              <a:buNone/>
              <a:defRPr lang="en-US" sz="1600" dirty="0">
                <a:solidFill>
                  <a:srgbClr val="1B243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6"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0.png"/><Relationship Id="rId7" Type="http://schemas.openxmlformats.org/officeDocument/2006/relationships/image" Target="../media/image34.jpg"/><Relationship Id="rId12" Type="http://schemas.openxmlformats.org/officeDocument/2006/relationships/image" Target="../media/image39.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jpeg"/><Relationship Id="rId11" Type="http://schemas.openxmlformats.org/officeDocument/2006/relationships/image" Target="../media/image38.jpg"/><Relationship Id="rId5" Type="http://schemas.openxmlformats.org/officeDocument/2006/relationships/image" Target="../media/image32.png"/><Relationship Id="rId10" Type="http://schemas.openxmlformats.org/officeDocument/2006/relationships/image" Target="../media/image37.jpg"/><Relationship Id="rId4" Type="http://schemas.openxmlformats.org/officeDocument/2006/relationships/image" Target="../media/image31.png"/><Relationship Id="rId9" Type="http://schemas.openxmlformats.org/officeDocument/2006/relationships/image" Target="../media/image36.jp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F577D-D526-A1BF-E1FB-0EE382B5C7DD}"/>
              </a:ext>
            </a:extLst>
          </p:cNvPr>
          <p:cNvPicPr>
            <a:picLocks noChangeAspect="1"/>
          </p:cNvPicPr>
          <p:nvPr/>
        </p:nvPicPr>
        <p:blipFill>
          <a:blip r:embed="rId2"/>
          <a:stretch>
            <a:fillRect/>
          </a:stretch>
        </p:blipFill>
        <p:spPr>
          <a:xfrm>
            <a:off x="0" y="1"/>
            <a:ext cx="12192000" cy="1956955"/>
          </a:xfrm>
          <a:prstGeom prst="rect">
            <a:avLst/>
          </a:prstGeom>
        </p:spPr>
      </p:pic>
      <p:sp>
        <p:nvSpPr>
          <p:cNvPr id="5" name="TextBox 4">
            <a:extLst>
              <a:ext uri="{FF2B5EF4-FFF2-40B4-BE49-F238E27FC236}">
                <a16:creationId xmlns:a16="http://schemas.microsoft.com/office/drawing/2014/main" id="{6D000739-F898-84B6-2DD1-1E1EC95DA970}"/>
              </a:ext>
            </a:extLst>
          </p:cNvPr>
          <p:cNvSpPr txBox="1"/>
          <p:nvPr/>
        </p:nvSpPr>
        <p:spPr>
          <a:xfrm>
            <a:off x="1596583" y="2766373"/>
            <a:ext cx="10953136" cy="3693319"/>
          </a:xfrm>
          <a:prstGeom prst="rect">
            <a:avLst/>
          </a:prstGeom>
          <a:noFill/>
        </p:spPr>
        <p:txBody>
          <a:bodyPr wrap="square" rtlCol="0">
            <a:spAutoFit/>
          </a:bodyPr>
          <a:lstStyle/>
          <a:p>
            <a:pPr marL="342891" indent="-342891">
              <a:buFont typeface="Wingdings" panose="05000000000000000000" pitchFamily="2" charset="2"/>
              <a:buChar char="v"/>
            </a:pPr>
            <a:r>
              <a:rPr lang="en-US" sz="2400" b="1" dirty="0">
                <a:latin typeface="Aptos Narrow" panose="020B0004020202020204" pitchFamily="34" charset="0"/>
              </a:rPr>
              <a:t>TOPIC : SMART ATTENDANCE TRACKER</a:t>
            </a:r>
          </a:p>
          <a:p>
            <a:pPr marL="342891" indent="-342891">
              <a:buFont typeface="Wingdings" panose="05000000000000000000" pitchFamily="2" charset="2"/>
              <a:buChar char="v"/>
            </a:pPr>
            <a:r>
              <a:rPr lang="en-US" sz="2400" b="1" dirty="0">
                <a:latin typeface="Aptos Narrow" panose="020B0004020202020204" pitchFamily="34" charset="0"/>
              </a:rPr>
              <a:t>PRESENTED BY : </a:t>
            </a:r>
          </a:p>
          <a:p>
            <a:r>
              <a:rPr lang="en-US" sz="2400" b="1" dirty="0">
                <a:latin typeface="Aptos Narrow" panose="020B0004020202020204" pitchFamily="34" charset="0"/>
              </a:rPr>
              <a:t>                                            CH.VENKATA  TEJA -25MVCSMR0021</a:t>
            </a:r>
          </a:p>
          <a:p>
            <a:r>
              <a:rPr lang="en-US" sz="2400" b="1" dirty="0">
                <a:latin typeface="Aptos Narrow" panose="020B0004020202020204" pitchFamily="34" charset="0"/>
              </a:rPr>
              <a:t>                                             P.MADHUSUDAN REDDY-25MVCSMR0066</a:t>
            </a:r>
          </a:p>
          <a:p>
            <a:r>
              <a:rPr lang="en-US" sz="2400" b="1" dirty="0">
                <a:latin typeface="Aptos Narrow" panose="020B0004020202020204" pitchFamily="34" charset="0"/>
              </a:rPr>
              <a:t>                                             K.HANSIKA-25MVCSMR0047</a:t>
            </a:r>
          </a:p>
          <a:p>
            <a:r>
              <a:rPr lang="en-US" sz="2400" b="1" dirty="0">
                <a:latin typeface="Aptos Narrow" panose="020B0004020202020204" pitchFamily="34" charset="0"/>
              </a:rPr>
              <a:t>                                             K.SAI MADHUHASINI-25MVCSMR0044</a:t>
            </a:r>
          </a:p>
          <a:p>
            <a:r>
              <a:rPr lang="en-US" sz="2400" b="1" dirty="0">
                <a:latin typeface="Aptos Narrow" panose="020B0004020202020204" pitchFamily="34" charset="0"/>
              </a:rPr>
              <a:t>                                             </a:t>
            </a:r>
          </a:p>
          <a:p>
            <a:endParaRPr lang="en-US" sz="2400" b="1" dirty="0">
              <a:latin typeface="Aptos Narrow" panose="020B0004020202020204" pitchFamily="34" charset="0"/>
            </a:endParaRPr>
          </a:p>
          <a:p>
            <a:r>
              <a:rPr lang="en-US" sz="2400" b="1" dirty="0">
                <a:latin typeface="Aptos Narrow" panose="020B0004020202020204" pitchFamily="34" charset="0"/>
              </a:rPr>
              <a:t>			   		</a:t>
            </a:r>
            <a:endParaRPr lang="en-US" dirty="0">
              <a:latin typeface="Aptos Narrow" panose="020B0004020202020204" pitchFamily="34" charset="0"/>
            </a:endParaRPr>
          </a:p>
          <a:p>
            <a:r>
              <a:rPr lang="en-US" dirty="0"/>
              <a:t> </a:t>
            </a:r>
            <a:endParaRPr lang="en-IN" dirty="0"/>
          </a:p>
        </p:txBody>
      </p:sp>
    </p:spTree>
    <p:extLst>
      <p:ext uri="{BB962C8B-B14F-4D97-AF65-F5344CB8AC3E}">
        <p14:creationId xmlns:p14="http://schemas.microsoft.com/office/powerpoint/2010/main" val="3836211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276906"/>
            <a:ext cx="3340417" cy="358140"/>
          </a:xfrm>
          <a:prstGeom prst="roundRect">
            <a:avLst>
              <a:gd name="adj" fmla="val 50000"/>
            </a:avLst>
          </a:prstGeom>
          <a:solidFill>
            <a:srgbClr val="2563EB"/>
          </a:solidFill>
          <a:ln/>
        </p:spPr>
        <p:txBody>
          <a:bodyPr wrap="none" lIns="0" tIns="0" rIns="0" bIns="0" rtlCol="0" anchor="ctr">
            <a:normAutofit/>
          </a:bodyPr>
          <a:lstStyle/>
          <a:p>
            <a:pPr marL="0" indent="0" algn="ctr">
              <a:lnSpc>
                <a:spcPts val="1820"/>
              </a:lnSpc>
              <a:buNone/>
            </a:pPr>
            <a:r>
              <a:rPr lang="en-US" sz="1300" b="1" kern="0" spc="150" dirty="0">
                <a:solidFill>
                  <a:srgbClr val="FDFEFF"/>
                </a:solidFill>
                <a:latin typeface="IBM Plex Sans" pitchFamily="34" charset="0"/>
                <a:ea typeface="IBM Plex Sans" pitchFamily="34" charset="-122"/>
                <a:cs typeface="IBM Plex Sans" pitchFamily="34" charset="-120"/>
              </a:rPr>
              <a:t>EDTECH · HACKATHON PROJECT</a:t>
            </a:r>
            <a:endParaRPr lang="en-US" sz="1300" dirty="0"/>
          </a:p>
        </p:txBody>
      </p:sp>
      <p:sp>
        <p:nvSpPr>
          <p:cNvPr id="3" name="Text 1"/>
          <p:cNvSpPr>
            <a:spLocks noGrp="1"/>
          </p:cNvSpPr>
          <p:nvPr>
            <p:ph type="title"/>
          </p:nvPr>
        </p:nvSpPr>
        <p:spPr>
          <a:xfrm>
            <a:off x="812800" y="1812846"/>
            <a:ext cx="6540500" cy="1177449"/>
          </a:xfrm>
          <a:prstGeom prst="rect">
            <a:avLst/>
          </a:prstGeom>
          <a:noFill/>
          <a:ln/>
        </p:spPr>
        <p:txBody>
          <a:bodyPr wrap="square" lIns="0" tIns="0" rIns="0" bIns="0" rtlCol="0" anchor="t">
            <a:normAutofit/>
          </a:bodyPr>
          <a:lstStyle/>
          <a:p>
            <a:pPr marL="0" indent="0" algn="l">
              <a:lnSpc>
                <a:spcPts val="4536"/>
              </a:lnSpc>
              <a:buNone/>
            </a:pPr>
            <a:r>
              <a:rPr lang="en-US" sz="4200" b="1" i="0" dirty="0">
                <a:solidFill>
                  <a:srgbClr val="FDFEFF"/>
                </a:solidFill>
                <a:latin typeface="Rubik" pitchFamily="34" charset="0"/>
                <a:ea typeface="Rubik" pitchFamily="34" charset="-122"/>
                <a:cs typeface="Rubik" pitchFamily="34" charset="-120"/>
              </a:rPr>
              <a:t>Smart Attendance System</a:t>
            </a:r>
            <a:endParaRPr lang="en-US" sz="4200" dirty="0"/>
          </a:p>
        </p:txBody>
      </p:sp>
      <p:sp>
        <p:nvSpPr>
          <p:cNvPr id="4" name="Text 2"/>
          <p:cNvSpPr/>
          <p:nvPr/>
        </p:nvSpPr>
        <p:spPr>
          <a:xfrm>
            <a:off x="812800" y="3002994"/>
            <a:ext cx="6540500" cy="45212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38BDF8"/>
                </a:solidFill>
                <a:latin typeface="Rubik" pitchFamily="34" charset="0"/>
                <a:ea typeface="Rubik" pitchFamily="34" charset="-122"/>
                <a:cs typeface="Rubik" pitchFamily="34" charset="-120"/>
              </a:rPr>
              <a:t>using MERN Stack</a:t>
            </a:r>
            <a:endParaRPr lang="en-US" sz="2800" dirty="0"/>
          </a:p>
        </p:txBody>
      </p:sp>
      <p:sp>
        <p:nvSpPr>
          <p:cNvPr id="5" name="Text 3"/>
          <p:cNvSpPr/>
          <p:nvPr/>
        </p:nvSpPr>
        <p:spPr>
          <a:xfrm>
            <a:off x="812800" y="3607514"/>
            <a:ext cx="588645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5D0DE"/>
                </a:solidFill>
                <a:latin typeface="IBM Plex Sans" pitchFamily="34" charset="0"/>
                <a:ea typeface="IBM Plex Sans" pitchFamily="34" charset="-122"/>
                <a:cs typeface="IBM Plex Sans" pitchFamily="34" charset="-120"/>
              </a:rPr>
              <a:t>A secure QR-based attendance system with multi-layer verification to eliminate proxy attendance.</a:t>
            </a:r>
            <a:endParaRPr lang="en-US" sz="1800" dirty="0"/>
          </a:p>
        </p:txBody>
      </p:sp>
      <p:sp>
        <p:nvSpPr>
          <p:cNvPr id="6" name="Shape 4"/>
          <p:cNvSpPr/>
          <p:nvPr/>
        </p:nvSpPr>
        <p:spPr>
          <a:xfrm>
            <a:off x="815975" y="4428570"/>
            <a:ext cx="1419781" cy="435610"/>
          </a:xfrm>
          <a:prstGeom prst="roundRect">
            <a:avLst>
              <a:gd name="adj" fmla="val 22595"/>
            </a:avLst>
          </a:prstGeom>
          <a:solidFill>
            <a:srgbClr val="2A3441"/>
          </a:solidFill>
          <a:ln w="6350">
            <a:solidFill>
              <a:srgbClr val="3F5066"/>
            </a:solidFill>
            <a:prstDash val="solid"/>
          </a:ln>
        </p:spPr>
      </p:sp>
      <p:sp>
        <p:nvSpPr>
          <p:cNvPr id="7" name="Text 5"/>
          <p:cNvSpPr/>
          <p:nvPr/>
        </p:nvSpPr>
        <p:spPr>
          <a:xfrm>
            <a:off x="957580" y="4506675"/>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38BDF8"/>
          </a:solidFill>
          <a:ln/>
        </p:spPr>
        <p:txBody>
          <a:bodyPr wrap="square" lIns="0" tIns="0" rIns="0" bIns="0" rtlCol="0" anchor="ctr">
            <a:normAutofit/>
          </a:bodyPr>
          <a:lstStyle/>
          <a:p>
            <a:pPr marL="0" indent="0" algn="ctr">
              <a:lnSpc>
                <a:spcPts val="1820"/>
              </a:lnSpc>
              <a:buNone/>
            </a:pPr>
            <a:r>
              <a:rPr lang="en-US" sz="1300" b="1" dirty="0">
                <a:solidFill>
                  <a:srgbClr val="0F172A"/>
                </a:solidFill>
                <a:latin typeface="IBM Plex Sans" pitchFamily="34" charset="0"/>
                <a:ea typeface="IBM Plex Sans" pitchFamily="34" charset="-122"/>
                <a:cs typeface="IBM Plex Sans" pitchFamily="34" charset="-120"/>
              </a:rPr>
              <a:t>M</a:t>
            </a:r>
            <a:endParaRPr lang="en-US" sz="1300" dirty="0"/>
          </a:p>
        </p:txBody>
      </p:sp>
      <p:sp>
        <p:nvSpPr>
          <p:cNvPr id="8" name="Text 6"/>
          <p:cNvSpPr/>
          <p:nvPr/>
        </p:nvSpPr>
        <p:spPr>
          <a:xfrm>
            <a:off x="1313180" y="4521914"/>
            <a:ext cx="91940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DFEFF"/>
                </a:solidFill>
                <a:latin typeface="IBM Plex Sans" pitchFamily="34" charset="0"/>
                <a:ea typeface="IBM Plex Sans" pitchFamily="34" charset="-122"/>
                <a:cs typeface="IBM Plex Sans" pitchFamily="34" charset="-120"/>
              </a:rPr>
              <a:t>MongoDB</a:t>
            </a:r>
            <a:endParaRPr lang="en-US" sz="1400" dirty="0"/>
          </a:p>
        </p:txBody>
      </p:sp>
      <p:sp>
        <p:nvSpPr>
          <p:cNvPr id="9" name="Shape 7"/>
          <p:cNvSpPr/>
          <p:nvPr/>
        </p:nvSpPr>
        <p:spPr>
          <a:xfrm>
            <a:off x="2331006" y="4428570"/>
            <a:ext cx="1284208" cy="435610"/>
          </a:xfrm>
          <a:prstGeom prst="roundRect">
            <a:avLst>
              <a:gd name="adj" fmla="val 22595"/>
            </a:avLst>
          </a:prstGeom>
          <a:solidFill>
            <a:srgbClr val="2A3441"/>
          </a:solidFill>
          <a:ln w="6350">
            <a:solidFill>
              <a:srgbClr val="3F5066"/>
            </a:solidFill>
            <a:prstDash val="solid"/>
          </a:ln>
        </p:spPr>
      </p:sp>
      <p:sp>
        <p:nvSpPr>
          <p:cNvPr id="10" name="Text 8"/>
          <p:cNvSpPr/>
          <p:nvPr/>
        </p:nvSpPr>
        <p:spPr>
          <a:xfrm>
            <a:off x="2472611" y="4506675"/>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C5D0DE"/>
          </a:solidFill>
          <a:ln/>
        </p:spPr>
        <p:txBody>
          <a:bodyPr wrap="square" lIns="0" tIns="0" rIns="0" bIns="0" rtlCol="0" anchor="ctr">
            <a:normAutofit/>
          </a:bodyPr>
          <a:lstStyle/>
          <a:p>
            <a:pPr marL="0" indent="0" algn="ctr">
              <a:lnSpc>
                <a:spcPts val="1820"/>
              </a:lnSpc>
              <a:buNone/>
            </a:pPr>
            <a:r>
              <a:rPr lang="en-US" sz="1300" b="1" dirty="0">
                <a:solidFill>
                  <a:srgbClr val="0F172A"/>
                </a:solidFill>
                <a:latin typeface="IBM Plex Sans" pitchFamily="34" charset="0"/>
                <a:ea typeface="IBM Plex Sans" pitchFamily="34" charset="-122"/>
                <a:cs typeface="IBM Plex Sans" pitchFamily="34" charset="-120"/>
              </a:rPr>
              <a:t>E</a:t>
            </a:r>
            <a:endParaRPr lang="en-US" sz="1300" dirty="0"/>
          </a:p>
        </p:txBody>
      </p:sp>
      <p:sp>
        <p:nvSpPr>
          <p:cNvPr id="11" name="Text 9"/>
          <p:cNvSpPr/>
          <p:nvPr/>
        </p:nvSpPr>
        <p:spPr>
          <a:xfrm>
            <a:off x="2828211" y="4521914"/>
            <a:ext cx="77447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DFEFF"/>
                </a:solidFill>
                <a:latin typeface="IBM Plex Sans" pitchFamily="34" charset="0"/>
                <a:ea typeface="IBM Plex Sans" pitchFamily="34" charset="-122"/>
                <a:cs typeface="IBM Plex Sans" pitchFamily="34" charset="-120"/>
              </a:rPr>
              <a:t>Express</a:t>
            </a:r>
            <a:endParaRPr lang="en-US" sz="1400" dirty="0"/>
          </a:p>
        </p:txBody>
      </p:sp>
      <p:sp>
        <p:nvSpPr>
          <p:cNvPr id="12" name="Shape 10"/>
          <p:cNvSpPr/>
          <p:nvPr/>
        </p:nvSpPr>
        <p:spPr>
          <a:xfrm>
            <a:off x="3710464" y="4428570"/>
            <a:ext cx="1104344" cy="435610"/>
          </a:xfrm>
          <a:prstGeom prst="roundRect">
            <a:avLst>
              <a:gd name="adj" fmla="val 22595"/>
            </a:avLst>
          </a:prstGeom>
          <a:solidFill>
            <a:srgbClr val="2A3441"/>
          </a:solidFill>
          <a:ln w="6350">
            <a:solidFill>
              <a:srgbClr val="3F5066"/>
            </a:solidFill>
            <a:prstDash val="solid"/>
          </a:ln>
        </p:spPr>
      </p:sp>
      <p:sp>
        <p:nvSpPr>
          <p:cNvPr id="13" name="Text 11"/>
          <p:cNvSpPr/>
          <p:nvPr/>
        </p:nvSpPr>
        <p:spPr>
          <a:xfrm>
            <a:off x="3852069" y="4506675"/>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2563EB"/>
          </a:solidFill>
          <a:ln/>
        </p:spPr>
        <p:txBody>
          <a:bodyPr wrap="square" lIns="0" tIns="0" rIns="0" bIns="0" rtlCol="0" anchor="ctr">
            <a:normAutofit/>
          </a:bodyPr>
          <a:lstStyle/>
          <a:p>
            <a:pPr marL="0" indent="0" algn="ctr">
              <a:lnSpc>
                <a:spcPts val="1820"/>
              </a:lnSpc>
              <a:buNone/>
            </a:pPr>
            <a:r>
              <a:rPr lang="en-US" sz="1300" b="1" dirty="0">
                <a:solidFill>
                  <a:srgbClr val="FDFEFF"/>
                </a:solidFill>
                <a:latin typeface="IBM Plex Sans" pitchFamily="34" charset="0"/>
                <a:ea typeface="IBM Plex Sans" pitchFamily="34" charset="-122"/>
                <a:cs typeface="IBM Plex Sans" pitchFamily="34" charset="-120"/>
              </a:rPr>
              <a:t>R</a:t>
            </a:r>
            <a:endParaRPr lang="en-US" sz="1300" dirty="0"/>
          </a:p>
        </p:txBody>
      </p:sp>
      <p:sp>
        <p:nvSpPr>
          <p:cNvPr id="14" name="Text 12"/>
          <p:cNvSpPr/>
          <p:nvPr/>
        </p:nvSpPr>
        <p:spPr>
          <a:xfrm>
            <a:off x="4207669" y="4521914"/>
            <a:ext cx="55864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DFEFF"/>
                </a:solidFill>
                <a:latin typeface="IBM Plex Sans" pitchFamily="34" charset="0"/>
                <a:ea typeface="IBM Plex Sans" pitchFamily="34" charset="-122"/>
                <a:cs typeface="IBM Plex Sans" pitchFamily="34" charset="-120"/>
              </a:rPr>
              <a:t>React</a:t>
            </a:r>
            <a:endParaRPr lang="en-US" sz="1400" dirty="0"/>
          </a:p>
        </p:txBody>
      </p:sp>
      <p:sp>
        <p:nvSpPr>
          <p:cNvPr id="15" name="Shape 13"/>
          <p:cNvSpPr/>
          <p:nvPr/>
        </p:nvSpPr>
        <p:spPr>
          <a:xfrm>
            <a:off x="4910058" y="4428570"/>
            <a:ext cx="1252617" cy="435610"/>
          </a:xfrm>
          <a:prstGeom prst="roundRect">
            <a:avLst>
              <a:gd name="adj" fmla="val 22595"/>
            </a:avLst>
          </a:prstGeom>
          <a:solidFill>
            <a:srgbClr val="2A3441"/>
          </a:solidFill>
          <a:ln w="6350">
            <a:solidFill>
              <a:srgbClr val="3F5066"/>
            </a:solidFill>
            <a:prstDash val="solid"/>
          </a:ln>
        </p:spPr>
      </p:sp>
      <p:sp>
        <p:nvSpPr>
          <p:cNvPr id="16" name="Text 14"/>
          <p:cNvSpPr/>
          <p:nvPr/>
        </p:nvSpPr>
        <p:spPr>
          <a:xfrm>
            <a:off x="5051663" y="4506675"/>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1D4ED8"/>
          </a:solidFill>
          <a:ln/>
        </p:spPr>
        <p:txBody>
          <a:bodyPr wrap="square" lIns="0" tIns="0" rIns="0" bIns="0" rtlCol="0" anchor="ctr">
            <a:normAutofit/>
          </a:bodyPr>
          <a:lstStyle/>
          <a:p>
            <a:pPr marL="0" indent="0" algn="ctr">
              <a:lnSpc>
                <a:spcPts val="1820"/>
              </a:lnSpc>
              <a:buNone/>
            </a:pPr>
            <a:r>
              <a:rPr lang="en-US" sz="1300" b="1" dirty="0">
                <a:solidFill>
                  <a:srgbClr val="FDFEFF"/>
                </a:solidFill>
                <a:latin typeface="IBM Plex Sans" pitchFamily="34" charset="0"/>
                <a:ea typeface="IBM Plex Sans" pitchFamily="34" charset="-122"/>
                <a:cs typeface="IBM Plex Sans" pitchFamily="34" charset="-120"/>
              </a:rPr>
              <a:t>N</a:t>
            </a:r>
            <a:endParaRPr lang="en-US" sz="1300" dirty="0"/>
          </a:p>
        </p:txBody>
      </p:sp>
      <p:sp>
        <p:nvSpPr>
          <p:cNvPr id="17" name="Text 15"/>
          <p:cNvSpPr/>
          <p:nvPr/>
        </p:nvSpPr>
        <p:spPr>
          <a:xfrm>
            <a:off x="5407263" y="4521914"/>
            <a:ext cx="7365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DFEFF"/>
                </a:solidFill>
                <a:latin typeface="IBM Plex Sans" pitchFamily="34" charset="0"/>
                <a:ea typeface="IBM Plex Sans" pitchFamily="34" charset="-122"/>
                <a:cs typeface="IBM Plex Sans" pitchFamily="34" charset="-120"/>
              </a:rPr>
              <a:t>Node.js</a:t>
            </a:r>
            <a:endParaRPr lang="en-US" sz="1400" dirty="0"/>
          </a:p>
        </p:txBody>
      </p:sp>
      <p:sp>
        <p:nvSpPr>
          <p:cNvPr id="18" name="Text 16"/>
          <p:cNvSpPr/>
          <p:nvPr/>
        </p:nvSpPr>
        <p:spPr>
          <a:xfrm>
            <a:off x="812800" y="5045154"/>
            <a:ext cx="260704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8BDF8"/>
                </a:solidFill>
                <a:latin typeface="IBM Plex Sans" pitchFamily="34" charset="0"/>
                <a:ea typeface="IBM Plex Sans" pitchFamily="34" charset="-122"/>
                <a:cs typeface="IBM Plex Sans" pitchFamily="34" charset="-120"/>
              </a:rPr>
              <a:t>TEAM MEMBERS</a:t>
            </a:r>
            <a:endParaRPr lang="en-US" sz="1200" dirty="0"/>
          </a:p>
        </p:txBody>
      </p:sp>
      <p:sp>
        <p:nvSpPr>
          <p:cNvPr id="19" name="Text 17"/>
          <p:cNvSpPr/>
          <p:nvPr/>
        </p:nvSpPr>
        <p:spPr>
          <a:xfrm>
            <a:off x="812800" y="5296613"/>
            <a:ext cx="3037332" cy="144941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DFEFF"/>
                </a:solidFill>
                <a:latin typeface="IBM Plex Sans" pitchFamily="34" charset="0"/>
              </a:rPr>
              <a:t>Chetala Venkata Teja</a:t>
            </a:r>
          </a:p>
          <a:p>
            <a:pPr marL="0" indent="0" algn="l">
              <a:lnSpc>
                <a:spcPts val="2240"/>
              </a:lnSpc>
              <a:buNone/>
            </a:pPr>
            <a:r>
              <a:rPr lang="en-US" sz="1600" dirty="0">
                <a:solidFill>
                  <a:srgbClr val="FDFEFF"/>
                </a:solidFill>
                <a:latin typeface="IBM Plex Sans" pitchFamily="34" charset="0"/>
              </a:rPr>
              <a:t>Patlolla Madhusudan Reddy</a:t>
            </a:r>
          </a:p>
          <a:p>
            <a:pPr marL="0" indent="0" algn="l">
              <a:lnSpc>
                <a:spcPts val="2240"/>
              </a:lnSpc>
              <a:buNone/>
            </a:pPr>
            <a:r>
              <a:rPr lang="en-US" sz="1600" dirty="0">
                <a:solidFill>
                  <a:srgbClr val="FDFEFF"/>
                </a:solidFill>
                <a:latin typeface="IBM Plex Sans" pitchFamily="34" charset="0"/>
              </a:rPr>
              <a:t>Khandare Hansika</a:t>
            </a:r>
          </a:p>
          <a:p>
            <a:pPr marL="0" indent="0" algn="l">
              <a:lnSpc>
                <a:spcPts val="2240"/>
              </a:lnSpc>
              <a:buNone/>
            </a:pPr>
            <a:r>
              <a:rPr lang="en-US" sz="1600" dirty="0">
                <a:solidFill>
                  <a:srgbClr val="FDFEFF"/>
                </a:solidFill>
                <a:latin typeface="IBM Plex Sans" pitchFamily="34" charset="0"/>
              </a:rPr>
              <a:t>Kathi Sai </a:t>
            </a:r>
            <a:r>
              <a:rPr lang="en-US" sz="1600" dirty="0" err="1">
                <a:solidFill>
                  <a:srgbClr val="FDFEFF"/>
                </a:solidFill>
                <a:latin typeface="IBM Plex Sans" pitchFamily="34" charset="0"/>
              </a:rPr>
              <a:t>Madhuhasini</a:t>
            </a:r>
            <a:endParaRPr lang="en-US" sz="1600" dirty="0">
              <a:solidFill>
                <a:srgbClr val="FDFEFF"/>
              </a:solidFill>
              <a:latin typeface="IBM Plex Sans" pitchFamily="34" charset="0"/>
            </a:endParaRPr>
          </a:p>
          <a:p>
            <a:pPr marL="0" indent="0" algn="l">
              <a:lnSpc>
                <a:spcPts val="2240"/>
              </a:lnSpc>
              <a:buNone/>
            </a:pPr>
            <a:endParaRPr lang="en-US" sz="1600" dirty="0"/>
          </a:p>
        </p:txBody>
      </p:sp>
      <p:sp>
        <p:nvSpPr>
          <p:cNvPr id="20" name="Text 18"/>
          <p:cNvSpPr/>
          <p:nvPr/>
        </p:nvSpPr>
        <p:spPr>
          <a:xfrm>
            <a:off x="3851910" y="5045154"/>
            <a:ext cx="298451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8BDF8"/>
                </a:solidFill>
                <a:latin typeface="IBM Plex Sans" pitchFamily="34" charset="0"/>
                <a:ea typeface="IBM Plex Sans" pitchFamily="34" charset="-122"/>
                <a:cs typeface="IBM Plex Sans" pitchFamily="34" charset="-120"/>
              </a:rPr>
              <a:t>PROBLEM DOMAIN</a:t>
            </a:r>
            <a:endParaRPr lang="en-US" sz="1200" dirty="0"/>
          </a:p>
        </p:txBody>
      </p:sp>
      <p:sp>
        <p:nvSpPr>
          <p:cNvPr id="21" name="Text 19"/>
          <p:cNvSpPr/>
          <p:nvPr/>
        </p:nvSpPr>
        <p:spPr>
          <a:xfrm>
            <a:off x="3851910" y="5296614"/>
            <a:ext cx="347710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DFEFF"/>
                </a:solidFill>
                <a:latin typeface="IBM Plex Sans" pitchFamily="34" charset="0"/>
                <a:ea typeface="IBM Plex Sans" pitchFamily="34" charset="-122"/>
                <a:cs typeface="IBM Plex Sans" pitchFamily="34" charset="-120"/>
              </a:rPr>
              <a:t>Education Technology (EdTech)</a:t>
            </a:r>
            <a:endParaRPr lang="en-US" sz="1600" dirty="0"/>
          </a:p>
        </p:txBody>
      </p:sp>
      <p:pic>
        <p:nvPicPr>
          <p:cNvPr id="22" name="Image 0" descr="Phone scanning a QR code, surrounded by security shield, GPS pin, face frame and graduation cap icons"/>
          <p:cNvPicPr>
            <a:picLocks noChangeAspect="1"/>
          </p:cNvPicPr>
          <p:nvPr/>
        </p:nvPicPr>
        <p:blipFill>
          <a:blip r:embed="rId3"/>
          <a:srcRect/>
          <a:stretch/>
        </p:blipFill>
        <p:spPr>
          <a:xfrm>
            <a:off x="7569200" y="1143000"/>
            <a:ext cx="3810000" cy="4572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563EB"/>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800" y="962660"/>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B2430"/>
                </a:solidFill>
                <a:latin typeface="Rubik" pitchFamily="34" charset="0"/>
                <a:ea typeface="Rubik" pitchFamily="34" charset="-122"/>
                <a:cs typeface="Rubik" pitchFamily="34" charset="-120"/>
              </a:rPr>
              <a:t>The Challenge</a:t>
            </a:r>
            <a:endParaRPr lang="en-US" sz="3400" dirty="0"/>
          </a:p>
        </p:txBody>
      </p:sp>
      <p:sp>
        <p:nvSpPr>
          <p:cNvPr id="4" name="Shape 2"/>
          <p:cNvSpPr/>
          <p:nvPr/>
        </p:nvSpPr>
        <p:spPr>
          <a:xfrm>
            <a:off x="815975" y="1644015"/>
            <a:ext cx="2653586" cy="1130697"/>
          </a:xfrm>
          <a:prstGeom prst="roundRect">
            <a:avLst>
              <a:gd name="adj" fmla="val 9828"/>
            </a:avLst>
          </a:prstGeom>
          <a:solidFill>
            <a:srgbClr val="FDFEFF"/>
          </a:solidFill>
          <a:ln w="6350">
            <a:solidFill>
              <a:srgbClr val="DCE5F0"/>
            </a:solidFill>
            <a:prstDash val="solid"/>
          </a:ln>
        </p:spPr>
      </p:sp>
      <p:sp>
        <p:nvSpPr>
          <p:cNvPr id="5" name="Shape 3"/>
          <p:cNvSpPr/>
          <p:nvPr/>
        </p:nvSpPr>
        <p:spPr>
          <a:xfrm>
            <a:off x="970280" y="1942624"/>
            <a:ext cx="533400" cy="533400"/>
          </a:xfrm>
          <a:prstGeom prst="roundRect">
            <a:avLst>
              <a:gd name="adj" fmla="val 23810"/>
            </a:avLst>
          </a:prstGeom>
          <a:solidFill>
            <a:srgbClr val="E8F0FE"/>
          </a:solidFill>
          <a:ln/>
        </p:spPr>
      </p:sp>
      <p:pic>
        <p:nvPicPr>
          <p:cNvPr id="6" name="Image 0" descr="Clock"/>
          <p:cNvPicPr>
            <a:picLocks noChangeAspect="1"/>
          </p:cNvPicPr>
          <p:nvPr/>
        </p:nvPicPr>
        <p:blipFill>
          <a:blip r:embed="rId3"/>
          <a:srcRect/>
          <a:stretch/>
        </p:blipFill>
        <p:spPr>
          <a:xfrm>
            <a:off x="1071880" y="2044224"/>
            <a:ext cx="330200" cy="330200"/>
          </a:xfrm>
          <a:prstGeom prst="rect">
            <a:avLst/>
          </a:prstGeom>
        </p:spPr>
      </p:pic>
      <p:sp>
        <p:nvSpPr>
          <p:cNvPr id="7" name="Text 4"/>
          <p:cNvSpPr/>
          <p:nvPr/>
        </p:nvSpPr>
        <p:spPr>
          <a:xfrm>
            <a:off x="1630680" y="1978184"/>
            <a:ext cx="173537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B2430"/>
                </a:solidFill>
                <a:latin typeface="IBM Plex Sans" pitchFamily="34" charset="0"/>
                <a:ea typeface="IBM Plex Sans" pitchFamily="34" charset="-122"/>
                <a:cs typeface="IBM Plex Sans" pitchFamily="34" charset="-120"/>
              </a:rPr>
              <a:t>Manual roll call wastes class time</a:t>
            </a:r>
            <a:endParaRPr lang="en-US" sz="1400" dirty="0"/>
          </a:p>
        </p:txBody>
      </p:sp>
      <p:sp>
        <p:nvSpPr>
          <p:cNvPr id="8" name="Shape 5"/>
          <p:cNvSpPr/>
          <p:nvPr/>
        </p:nvSpPr>
        <p:spPr>
          <a:xfrm>
            <a:off x="3602911" y="1644015"/>
            <a:ext cx="2653586" cy="1130697"/>
          </a:xfrm>
          <a:prstGeom prst="roundRect">
            <a:avLst>
              <a:gd name="adj" fmla="val 9828"/>
            </a:avLst>
          </a:prstGeom>
          <a:solidFill>
            <a:srgbClr val="FDFEFF"/>
          </a:solidFill>
          <a:ln w="6350">
            <a:solidFill>
              <a:srgbClr val="DCE5F0"/>
            </a:solidFill>
            <a:prstDash val="solid"/>
          </a:ln>
        </p:spPr>
      </p:sp>
      <p:sp>
        <p:nvSpPr>
          <p:cNvPr id="9" name="Shape 6"/>
          <p:cNvSpPr/>
          <p:nvPr/>
        </p:nvSpPr>
        <p:spPr>
          <a:xfrm>
            <a:off x="3757216" y="1942624"/>
            <a:ext cx="533400" cy="533400"/>
          </a:xfrm>
          <a:prstGeom prst="roundRect">
            <a:avLst>
              <a:gd name="adj" fmla="val 23810"/>
            </a:avLst>
          </a:prstGeom>
          <a:solidFill>
            <a:srgbClr val="E8F0FE"/>
          </a:solidFill>
          <a:ln/>
        </p:spPr>
      </p:sp>
      <p:pic>
        <p:nvPicPr>
          <p:cNvPr id="10" name="Image 1" descr="Users"/>
          <p:cNvPicPr>
            <a:picLocks noChangeAspect="1"/>
          </p:cNvPicPr>
          <p:nvPr/>
        </p:nvPicPr>
        <p:blipFill>
          <a:blip r:embed="rId4"/>
          <a:srcRect/>
          <a:stretch/>
        </p:blipFill>
        <p:spPr>
          <a:xfrm>
            <a:off x="3858816" y="2044224"/>
            <a:ext cx="330200" cy="330200"/>
          </a:xfrm>
          <a:prstGeom prst="rect">
            <a:avLst/>
          </a:prstGeom>
        </p:spPr>
      </p:pic>
      <p:sp>
        <p:nvSpPr>
          <p:cNvPr id="11" name="Text 7"/>
          <p:cNvSpPr/>
          <p:nvPr/>
        </p:nvSpPr>
        <p:spPr>
          <a:xfrm>
            <a:off x="4417616" y="1978184"/>
            <a:ext cx="173537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B2430"/>
                </a:solidFill>
                <a:latin typeface="IBM Plex Sans" pitchFamily="34" charset="0"/>
                <a:ea typeface="IBM Plex Sans" pitchFamily="34" charset="-122"/>
                <a:cs typeface="IBM Plex Sans" pitchFamily="34" charset="-120"/>
              </a:rPr>
              <a:t>Proxy attendance by friends</a:t>
            </a:r>
            <a:endParaRPr lang="en-US" sz="1400" dirty="0"/>
          </a:p>
        </p:txBody>
      </p:sp>
      <p:sp>
        <p:nvSpPr>
          <p:cNvPr id="12" name="Shape 8"/>
          <p:cNvSpPr/>
          <p:nvPr/>
        </p:nvSpPr>
        <p:spPr>
          <a:xfrm>
            <a:off x="815975" y="2908062"/>
            <a:ext cx="2653586" cy="1130697"/>
          </a:xfrm>
          <a:prstGeom prst="roundRect">
            <a:avLst>
              <a:gd name="adj" fmla="val 9828"/>
            </a:avLst>
          </a:prstGeom>
          <a:solidFill>
            <a:srgbClr val="FDFEFF"/>
          </a:solidFill>
          <a:ln w="6350">
            <a:solidFill>
              <a:srgbClr val="DCE5F0"/>
            </a:solidFill>
            <a:prstDash val="solid"/>
          </a:ln>
        </p:spPr>
      </p:sp>
      <p:sp>
        <p:nvSpPr>
          <p:cNvPr id="13" name="Shape 9"/>
          <p:cNvSpPr/>
          <p:nvPr/>
        </p:nvSpPr>
        <p:spPr>
          <a:xfrm>
            <a:off x="970280" y="3206671"/>
            <a:ext cx="533400" cy="533400"/>
          </a:xfrm>
          <a:prstGeom prst="roundRect">
            <a:avLst>
              <a:gd name="adj" fmla="val 23810"/>
            </a:avLst>
          </a:prstGeom>
          <a:solidFill>
            <a:srgbClr val="E8F0FE"/>
          </a:solidFill>
          <a:ln/>
        </p:spPr>
      </p:sp>
      <p:pic>
        <p:nvPicPr>
          <p:cNvPr id="14" name="Image 2" descr="Link"/>
          <p:cNvPicPr>
            <a:picLocks noChangeAspect="1"/>
          </p:cNvPicPr>
          <p:nvPr/>
        </p:nvPicPr>
        <p:blipFill>
          <a:blip r:embed="rId5"/>
          <a:srcRect/>
          <a:stretch/>
        </p:blipFill>
        <p:spPr>
          <a:xfrm>
            <a:off x="1071880" y="3308271"/>
            <a:ext cx="330200" cy="330200"/>
          </a:xfrm>
          <a:prstGeom prst="rect">
            <a:avLst/>
          </a:prstGeom>
        </p:spPr>
      </p:pic>
      <p:sp>
        <p:nvSpPr>
          <p:cNvPr id="15" name="Text 10"/>
          <p:cNvSpPr/>
          <p:nvPr/>
        </p:nvSpPr>
        <p:spPr>
          <a:xfrm>
            <a:off x="1630680" y="3242231"/>
            <a:ext cx="173537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B2430"/>
                </a:solidFill>
                <a:latin typeface="IBM Plex Sans" pitchFamily="34" charset="0"/>
                <a:ea typeface="IBM Plex Sans" pitchFamily="34" charset="-122"/>
                <a:cs typeface="IBM Plex Sans" pitchFamily="34" charset="-120"/>
              </a:rPr>
              <a:t>QR photos shared outside class</a:t>
            </a:r>
            <a:endParaRPr lang="en-US" sz="1400" dirty="0"/>
          </a:p>
        </p:txBody>
      </p:sp>
      <p:sp>
        <p:nvSpPr>
          <p:cNvPr id="16" name="Shape 11"/>
          <p:cNvSpPr/>
          <p:nvPr/>
        </p:nvSpPr>
        <p:spPr>
          <a:xfrm>
            <a:off x="3602911" y="2908062"/>
            <a:ext cx="2653586" cy="1130697"/>
          </a:xfrm>
          <a:prstGeom prst="roundRect">
            <a:avLst>
              <a:gd name="adj" fmla="val 9828"/>
            </a:avLst>
          </a:prstGeom>
          <a:solidFill>
            <a:srgbClr val="FDFEFF"/>
          </a:solidFill>
          <a:ln w="6350">
            <a:solidFill>
              <a:srgbClr val="DCE5F0"/>
            </a:solidFill>
            <a:prstDash val="solid"/>
          </a:ln>
        </p:spPr>
      </p:sp>
      <p:sp>
        <p:nvSpPr>
          <p:cNvPr id="17" name="Shape 12"/>
          <p:cNvSpPr/>
          <p:nvPr/>
        </p:nvSpPr>
        <p:spPr>
          <a:xfrm>
            <a:off x="3757216" y="3206671"/>
            <a:ext cx="533400" cy="533400"/>
          </a:xfrm>
          <a:prstGeom prst="roundRect">
            <a:avLst>
              <a:gd name="adj" fmla="val 23810"/>
            </a:avLst>
          </a:prstGeom>
          <a:solidFill>
            <a:srgbClr val="E8F0FE"/>
          </a:solidFill>
          <a:ln/>
        </p:spPr>
      </p:sp>
      <p:pic>
        <p:nvPicPr>
          <p:cNvPr id="18" name="Image 3" descr="Globe"/>
          <p:cNvPicPr>
            <a:picLocks noChangeAspect="1"/>
          </p:cNvPicPr>
          <p:nvPr/>
        </p:nvPicPr>
        <p:blipFill>
          <a:blip r:embed="rId6"/>
          <a:srcRect/>
          <a:stretch/>
        </p:blipFill>
        <p:spPr>
          <a:xfrm>
            <a:off x="3858816" y="3308271"/>
            <a:ext cx="330200" cy="330200"/>
          </a:xfrm>
          <a:prstGeom prst="rect">
            <a:avLst/>
          </a:prstGeom>
        </p:spPr>
      </p:pic>
      <p:sp>
        <p:nvSpPr>
          <p:cNvPr id="19" name="Text 13"/>
          <p:cNvSpPr/>
          <p:nvPr/>
        </p:nvSpPr>
        <p:spPr>
          <a:xfrm>
            <a:off x="4417616" y="3242231"/>
            <a:ext cx="173537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B2430"/>
                </a:solidFill>
                <a:latin typeface="IBM Plex Sans" pitchFamily="34" charset="0"/>
                <a:ea typeface="IBM Plex Sans" pitchFamily="34" charset="-122"/>
                <a:cs typeface="IBM Plex Sans" pitchFamily="34" charset="-120"/>
              </a:rPr>
              <a:t>Fake GPS apps spoof location</a:t>
            </a:r>
            <a:endParaRPr lang="en-US" sz="1400" dirty="0"/>
          </a:p>
        </p:txBody>
      </p:sp>
      <p:sp>
        <p:nvSpPr>
          <p:cNvPr id="20" name="Shape 14"/>
          <p:cNvSpPr/>
          <p:nvPr/>
        </p:nvSpPr>
        <p:spPr>
          <a:xfrm>
            <a:off x="815975" y="4172109"/>
            <a:ext cx="2653586" cy="1130697"/>
          </a:xfrm>
          <a:prstGeom prst="roundRect">
            <a:avLst>
              <a:gd name="adj" fmla="val 9828"/>
            </a:avLst>
          </a:prstGeom>
          <a:solidFill>
            <a:srgbClr val="FDFEFF"/>
          </a:solidFill>
          <a:ln w="6350">
            <a:solidFill>
              <a:srgbClr val="DCE5F0"/>
            </a:solidFill>
            <a:prstDash val="solid"/>
          </a:ln>
        </p:spPr>
      </p:sp>
      <p:sp>
        <p:nvSpPr>
          <p:cNvPr id="21" name="Shape 15"/>
          <p:cNvSpPr/>
          <p:nvPr/>
        </p:nvSpPr>
        <p:spPr>
          <a:xfrm>
            <a:off x="970280" y="4470718"/>
            <a:ext cx="533400" cy="533400"/>
          </a:xfrm>
          <a:prstGeom prst="roundRect">
            <a:avLst>
              <a:gd name="adj" fmla="val 23810"/>
            </a:avLst>
          </a:prstGeom>
          <a:solidFill>
            <a:srgbClr val="E8F0FE"/>
          </a:solidFill>
          <a:ln/>
        </p:spPr>
      </p:sp>
      <p:pic>
        <p:nvPicPr>
          <p:cNvPr id="22" name="Image 4" descr="Warning"/>
          <p:cNvPicPr>
            <a:picLocks noChangeAspect="1"/>
          </p:cNvPicPr>
          <p:nvPr/>
        </p:nvPicPr>
        <p:blipFill>
          <a:blip r:embed="rId7"/>
          <a:srcRect/>
          <a:stretch/>
        </p:blipFill>
        <p:spPr>
          <a:xfrm>
            <a:off x="1071880" y="4572318"/>
            <a:ext cx="330200" cy="330200"/>
          </a:xfrm>
          <a:prstGeom prst="rect">
            <a:avLst/>
          </a:prstGeom>
        </p:spPr>
      </p:pic>
      <p:sp>
        <p:nvSpPr>
          <p:cNvPr id="23" name="Text 16"/>
          <p:cNvSpPr/>
          <p:nvPr/>
        </p:nvSpPr>
        <p:spPr>
          <a:xfrm>
            <a:off x="1630680" y="4506278"/>
            <a:ext cx="173537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B2430"/>
                </a:solidFill>
                <a:latin typeface="IBM Plex Sans" pitchFamily="34" charset="0"/>
                <a:ea typeface="IBM Plex Sans" pitchFamily="34" charset="-122"/>
                <a:cs typeface="IBM Plex Sans" pitchFamily="34" charset="-120"/>
              </a:rPr>
              <a:t>Attendance records get manipulated</a:t>
            </a:r>
            <a:endParaRPr lang="en-US" sz="1400" dirty="0"/>
          </a:p>
        </p:txBody>
      </p:sp>
      <p:sp>
        <p:nvSpPr>
          <p:cNvPr id="24" name="Shape 17"/>
          <p:cNvSpPr/>
          <p:nvPr/>
        </p:nvSpPr>
        <p:spPr>
          <a:xfrm>
            <a:off x="3602911" y="4172109"/>
            <a:ext cx="2653586" cy="1130697"/>
          </a:xfrm>
          <a:prstGeom prst="roundRect">
            <a:avLst>
              <a:gd name="adj" fmla="val 9828"/>
            </a:avLst>
          </a:prstGeom>
          <a:solidFill>
            <a:srgbClr val="FDFEFF"/>
          </a:solidFill>
          <a:ln w="6350">
            <a:solidFill>
              <a:srgbClr val="DCE5F0"/>
            </a:solidFill>
            <a:prstDash val="solid"/>
          </a:ln>
        </p:spPr>
      </p:sp>
      <p:sp>
        <p:nvSpPr>
          <p:cNvPr id="25" name="Shape 18"/>
          <p:cNvSpPr/>
          <p:nvPr/>
        </p:nvSpPr>
        <p:spPr>
          <a:xfrm>
            <a:off x="3757216" y="4470718"/>
            <a:ext cx="533400" cy="533400"/>
          </a:xfrm>
          <a:prstGeom prst="roundRect">
            <a:avLst>
              <a:gd name="adj" fmla="val 23810"/>
            </a:avLst>
          </a:prstGeom>
          <a:solidFill>
            <a:srgbClr val="E8F0FE"/>
          </a:solidFill>
          <a:ln/>
        </p:spPr>
      </p:sp>
      <p:pic>
        <p:nvPicPr>
          <p:cNvPr id="26" name="Image 5" descr="Chart"/>
          <p:cNvPicPr>
            <a:picLocks noChangeAspect="1"/>
          </p:cNvPicPr>
          <p:nvPr/>
        </p:nvPicPr>
        <p:blipFill>
          <a:blip r:embed="rId8"/>
          <a:srcRect/>
          <a:stretch/>
        </p:blipFill>
        <p:spPr>
          <a:xfrm>
            <a:off x="3858816" y="4572318"/>
            <a:ext cx="330200" cy="330200"/>
          </a:xfrm>
          <a:prstGeom prst="rect">
            <a:avLst/>
          </a:prstGeom>
        </p:spPr>
      </p:pic>
      <p:sp>
        <p:nvSpPr>
          <p:cNvPr id="27" name="Text 19"/>
          <p:cNvSpPr/>
          <p:nvPr/>
        </p:nvSpPr>
        <p:spPr>
          <a:xfrm>
            <a:off x="4417616" y="4506278"/>
            <a:ext cx="173537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B2430"/>
                </a:solidFill>
                <a:latin typeface="IBM Plex Sans" pitchFamily="34" charset="0"/>
                <a:ea typeface="IBM Plex Sans" pitchFamily="34" charset="-122"/>
                <a:cs typeface="IBM Plex Sans" pitchFamily="34" charset="-120"/>
              </a:rPr>
              <a:t>No attendance analytics</a:t>
            </a:r>
            <a:endParaRPr lang="en-US" sz="1400" dirty="0"/>
          </a:p>
        </p:txBody>
      </p:sp>
      <p:sp>
        <p:nvSpPr>
          <p:cNvPr id="28" name="Shape 20"/>
          <p:cNvSpPr/>
          <p:nvPr/>
        </p:nvSpPr>
        <p:spPr>
          <a:xfrm>
            <a:off x="6513671" y="1640840"/>
            <a:ext cx="4865529" cy="3665220"/>
          </a:xfrm>
          <a:prstGeom prst="roundRect">
            <a:avLst>
              <a:gd name="adj" fmla="val 4158"/>
            </a:avLst>
          </a:prstGeom>
          <a:solidFill>
            <a:srgbClr val="1B2430"/>
          </a:solidFill>
          <a:ln/>
        </p:spPr>
      </p:sp>
      <p:sp>
        <p:nvSpPr>
          <p:cNvPr id="29" name="Text 21"/>
          <p:cNvSpPr/>
          <p:nvPr/>
        </p:nvSpPr>
        <p:spPr>
          <a:xfrm>
            <a:off x="6767671" y="1869440"/>
            <a:ext cx="448825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8BDF8"/>
                </a:solidFill>
                <a:latin typeface="IBM Plex Sans" pitchFamily="34" charset="0"/>
                <a:ea typeface="IBM Plex Sans" pitchFamily="34" charset="-122"/>
                <a:cs typeface="IBM Plex Sans" pitchFamily="34" charset="-120"/>
              </a:rPr>
              <a:t>KEY CHALLENGE · OUR ANSWER</a:t>
            </a:r>
            <a:endParaRPr lang="en-US" sz="1200" dirty="0"/>
          </a:p>
        </p:txBody>
      </p:sp>
      <p:sp>
        <p:nvSpPr>
          <p:cNvPr id="30" name="Shape 22"/>
          <p:cNvSpPr/>
          <p:nvPr/>
        </p:nvSpPr>
        <p:spPr>
          <a:xfrm>
            <a:off x="6767671" y="2854960"/>
            <a:ext cx="4357529" cy="0"/>
          </a:xfrm>
          <a:prstGeom prst="line">
            <a:avLst/>
          </a:prstGeom>
          <a:noFill/>
          <a:ln w="6350">
            <a:solidFill>
              <a:srgbClr val="3B4A5C"/>
            </a:solidFill>
            <a:prstDash val="solid"/>
          </a:ln>
        </p:spPr>
      </p:sp>
      <p:sp>
        <p:nvSpPr>
          <p:cNvPr id="31" name="Text 23"/>
          <p:cNvSpPr/>
          <p:nvPr/>
        </p:nvSpPr>
        <p:spPr>
          <a:xfrm>
            <a:off x="6767671" y="2274570"/>
            <a:ext cx="44882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0DE"/>
                </a:solidFill>
                <a:latin typeface="IBM Plex Sans" pitchFamily="34" charset="0"/>
                <a:ea typeface="IBM Plex Sans" pitchFamily="34" charset="-122"/>
                <a:cs typeface="IBM Plex Sans" pitchFamily="34" charset="-120"/>
              </a:rPr>
              <a:t>Prevent QR sharing</a:t>
            </a:r>
            <a:endParaRPr lang="en-US" sz="1200" dirty="0"/>
          </a:p>
        </p:txBody>
      </p:sp>
      <p:sp>
        <p:nvSpPr>
          <p:cNvPr id="32" name="Text 24"/>
          <p:cNvSpPr/>
          <p:nvPr/>
        </p:nvSpPr>
        <p:spPr>
          <a:xfrm>
            <a:off x="6767671" y="2513330"/>
            <a:ext cx="448825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DFEFF"/>
                </a:solidFill>
                <a:latin typeface="IBM Plex Sans" pitchFamily="34" charset="0"/>
                <a:ea typeface="IBM Plex Sans" pitchFamily="34" charset="-122"/>
                <a:cs typeface="IBM Plex Sans" pitchFamily="34" charset="-120"/>
              </a:rPr>
              <a:t>Expiring one-time token</a:t>
            </a:r>
            <a:endParaRPr lang="en-US" sz="1500" dirty="0"/>
          </a:p>
        </p:txBody>
      </p:sp>
      <p:sp>
        <p:nvSpPr>
          <p:cNvPr id="33" name="Shape 25"/>
          <p:cNvSpPr/>
          <p:nvPr/>
        </p:nvSpPr>
        <p:spPr>
          <a:xfrm>
            <a:off x="6767671" y="3630295"/>
            <a:ext cx="4357529" cy="0"/>
          </a:xfrm>
          <a:prstGeom prst="line">
            <a:avLst/>
          </a:prstGeom>
          <a:noFill/>
          <a:ln w="6350">
            <a:solidFill>
              <a:srgbClr val="3B4A5C"/>
            </a:solidFill>
            <a:prstDash val="solid"/>
          </a:ln>
        </p:spPr>
      </p:sp>
      <p:sp>
        <p:nvSpPr>
          <p:cNvPr id="34" name="Text 26"/>
          <p:cNvSpPr/>
          <p:nvPr/>
        </p:nvSpPr>
        <p:spPr>
          <a:xfrm>
            <a:off x="6767671" y="3049905"/>
            <a:ext cx="44882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0DE"/>
                </a:solidFill>
                <a:latin typeface="IBM Plex Sans" pitchFamily="34" charset="0"/>
                <a:ea typeface="IBM Plex Sans" pitchFamily="34" charset="-122"/>
                <a:cs typeface="IBM Plex Sans" pitchFamily="34" charset="-120"/>
              </a:rPr>
              <a:t>Verify the real student</a:t>
            </a:r>
            <a:endParaRPr lang="en-US" sz="1200" dirty="0"/>
          </a:p>
        </p:txBody>
      </p:sp>
      <p:sp>
        <p:nvSpPr>
          <p:cNvPr id="35" name="Text 27"/>
          <p:cNvSpPr/>
          <p:nvPr/>
        </p:nvSpPr>
        <p:spPr>
          <a:xfrm>
            <a:off x="6767671" y="3288665"/>
            <a:ext cx="448825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DFEFF"/>
                </a:solidFill>
                <a:latin typeface="IBM Plex Sans" pitchFamily="34" charset="0"/>
                <a:ea typeface="IBM Plex Sans" pitchFamily="34" charset="-122"/>
                <a:cs typeface="IBM Plex Sans" pitchFamily="34" charset="-120"/>
              </a:rPr>
              <a:t>Live selfie face check</a:t>
            </a:r>
            <a:endParaRPr lang="en-US" sz="1500" dirty="0"/>
          </a:p>
        </p:txBody>
      </p:sp>
      <p:sp>
        <p:nvSpPr>
          <p:cNvPr id="36" name="Shape 28"/>
          <p:cNvSpPr/>
          <p:nvPr/>
        </p:nvSpPr>
        <p:spPr>
          <a:xfrm>
            <a:off x="6767671" y="4405630"/>
            <a:ext cx="4357529" cy="0"/>
          </a:xfrm>
          <a:prstGeom prst="line">
            <a:avLst/>
          </a:prstGeom>
          <a:noFill/>
          <a:ln w="6350">
            <a:solidFill>
              <a:srgbClr val="3B4A5C"/>
            </a:solidFill>
            <a:prstDash val="solid"/>
          </a:ln>
        </p:spPr>
      </p:sp>
      <p:sp>
        <p:nvSpPr>
          <p:cNvPr id="37" name="Text 29"/>
          <p:cNvSpPr/>
          <p:nvPr/>
        </p:nvSpPr>
        <p:spPr>
          <a:xfrm>
            <a:off x="6767671" y="3825240"/>
            <a:ext cx="44882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0DE"/>
                </a:solidFill>
                <a:latin typeface="IBM Plex Sans" pitchFamily="34" charset="0"/>
                <a:ea typeface="IBM Plex Sans" pitchFamily="34" charset="-122"/>
                <a:cs typeface="IBM Plex Sans" pitchFamily="34" charset="-120"/>
              </a:rPr>
              <a:t>Secure authentication</a:t>
            </a:r>
            <a:endParaRPr lang="en-US" sz="1200" dirty="0"/>
          </a:p>
        </p:txBody>
      </p:sp>
      <p:sp>
        <p:nvSpPr>
          <p:cNvPr id="38" name="Text 30"/>
          <p:cNvSpPr/>
          <p:nvPr/>
        </p:nvSpPr>
        <p:spPr>
          <a:xfrm>
            <a:off x="6767671" y="4064000"/>
            <a:ext cx="448825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DFEFF"/>
                </a:solidFill>
                <a:latin typeface="IBM Plex Sans" pitchFamily="34" charset="0"/>
                <a:ea typeface="IBM Plex Sans" pitchFamily="34" charset="-122"/>
                <a:cs typeface="IBM Plex Sans" pitchFamily="34" charset="-120"/>
              </a:rPr>
              <a:t>JWT login + email OTP</a:t>
            </a:r>
            <a:endParaRPr lang="en-US" sz="1500" dirty="0"/>
          </a:p>
        </p:txBody>
      </p:sp>
      <p:sp>
        <p:nvSpPr>
          <p:cNvPr id="39" name="Text 31"/>
          <p:cNvSpPr/>
          <p:nvPr/>
        </p:nvSpPr>
        <p:spPr>
          <a:xfrm>
            <a:off x="6767671" y="4600575"/>
            <a:ext cx="44882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0DE"/>
                </a:solidFill>
                <a:latin typeface="IBM Plex Sans" pitchFamily="34" charset="0"/>
                <a:ea typeface="IBM Plex Sans" pitchFamily="34" charset="-122"/>
                <a:cs typeface="IBM Plex Sans" pitchFamily="34" charset="-120"/>
              </a:rPr>
              <a:t>Fast attendance marking</a:t>
            </a:r>
            <a:endParaRPr lang="en-US" sz="1200" dirty="0"/>
          </a:p>
        </p:txBody>
      </p:sp>
      <p:sp>
        <p:nvSpPr>
          <p:cNvPr id="40" name="Text 32"/>
          <p:cNvSpPr/>
          <p:nvPr/>
        </p:nvSpPr>
        <p:spPr>
          <a:xfrm>
            <a:off x="6767671" y="4839335"/>
            <a:ext cx="448825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DFEFF"/>
                </a:solidFill>
                <a:latin typeface="IBM Plex Sans" pitchFamily="34" charset="0"/>
                <a:ea typeface="IBM Plex Sans" pitchFamily="34" charset="-122"/>
                <a:cs typeface="IBM Plex Sans" pitchFamily="34" charset="-120"/>
              </a:rPr>
              <a:t>Done in under 3 seconds</a:t>
            </a:r>
            <a:endParaRPr lang="en-US" sz="1500" dirty="0"/>
          </a:p>
        </p:txBody>
      </p:sp>
      <p:sp>
        <p:nvSpPr>
          <p:cNvPr id="41" name="Text 33"/>
          <p:cNvSpPr/>
          <p:nvPr/>
        </p:nvSpPr>
        <p:spPr>
          <a:xfrm>
            <a:off x="812800" y="5534660"/>
            <a:ext cx="134816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563EB"/>
                </a:solidFill>
                <a:latin typeface="IBM Plex Sans" pitchFamily="34" charset="0"/>
                <a:ea typeface="IBM Plex Sans" pitchFamily="34" charset="-122"/>
                <a:cs typeface="IBM Plex Sans" pitchFamily="34" charset="-120"/>
              </a:rPr>
              <a:t>Why it matters</a:t>
            </a:r>
            <a:endParaRPr lang="en-US" sz="1300" dirty="0"/>
          </a:p>
        </p:txBody>
      </p:sp>
      <p:sp>
        <p:nvSpPr>
          <p:cNvPr id="42" name="Text 34"/>
          <p:cNvSpPr/>
          <p:nvPr/>
        </p:nvSpPr>
        <p:spPr>
          <a:xfrm>
            <a:off x="2415143" y="5458460"/>
            <a:ext cx="1895237" cy="3835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Accurate attendance</a:t>
            </a:r>
            <a:endParaRPr lang="en-US" sz="1300" dirty="0"/>
          </a:p>
        </p:txBody>
      </p:sp>
      <p:sp>
        <p:nvSpPr>
          <p:cNvPr id="43" name="Text 35"/>
          <p:cNvSpPr/>
          <p:nvPr/>
        </p:nvSpPr>
        <p:spPr>
          <a:xfrm>
            <a:off x="4789250" y="5458460"/>
            <a:ext cx="1215787" cy="3835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Time saving</a:t>
            </a:r>
            <a:endParaRPr lang="en-US" sz="1300" dirty="0"/>
          </a:p>
        </p:txBody>
      </p:sp>
      <p:sp>
        <p:nvSpPr>
          <p:cNvPr id="44" name="Text 36"/>
          <p:cNvSpPr/>
          <p:nvPr/>
        </p:nvSpPr>
        <p:spPr>
          <a:xfrm>
            <a:off x="6483906" y="5458460"/>
            <a:ext cx="2129869" cy="3835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Increased transparency</a:t>
            </a:r>
            <a:endParaRPr lang="en-US" sz="1300" dirty="0"/>
          </a:p>
        </p:txBody>
      </p:sp>
      <p:sp>
        <p:nvSpPr>
          <p:cNvPr id="45" name="Text 37"/>
          <p:cNvSpPr/>
          <p:nvPr/>
        </p:nvSpPr>
        <p:spPr>
          <a:xfrm>
            <a:off x="9092644" y="5458460"/>
            <a:ext cx="2286556" cy="3835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Better student monitoring</a:t>
            </a:r>
            <a:endParaRPr lang="en-US" sz="1300" dirty="0"/>
          </a:p>
        </p:txBody>
      </p:sp>
      <p:sp>
        <p:nvSpPr>
          <p:cNvPr id="46" name="Text 38"/>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5"/>
                </a:solidFill>
                <a:latin typeface="IBM Plex Sans" pitchFamily="34" charset="0"/>
                <a:ea typeface="IBM Plex Sans" pitchFamily="34" charset="-122"/>
                <a:cs typeface="IBM Plex Sans" pitchFamily="34" charset="-120"/>
              </a:rPr>
              <a:t>Smart Attendance System · Secure QR Verification</a:t>
            </a:r>
            <a:endParaRPr lang="en-US" sz="1200" dirty="0"/>
          </a:p>
        </p:txBody>
      </p:sp>
      <p:sp>
        <p:nvSpPr>
          <p:cNvPr id="47" name="Text 39"/>
          <p:cNvSpPr/>
          <p:nvPr/>
        </p:nvSpPr>
        <p:spPr>
          <a:xfrm>
            <a:off x="10312400" y="6238241"/>
            <a:ext cx="1066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5"/>
                </a:solidFill>
                <a:latin typeface="IBM Plex Sans" pitchFamily="34" charset="0"/>
                <a:ea typeface="IBM Plex Sans" pitchFamily="34" charset="-122"/>
                <a:cs typeface="IBM Plex Sans" pitchFamily="34" charset="-120"/>
              </a:rPr>
              <a:t>02 / 07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B2430"/>
        </a:solidFill>
        <a:effectLst/>
      </p:bgPr>
    </p:bg>
    <p:spTree>
      <p:nvGrpSpPr>
        <p:cNvPr id="1" name=""/>
        <p:cNvGrpSpPr/>
        <p:nvPr/>
      </p:nvGrpSpPr>
      <p:grpSpPr>
        <a:xfrm>
          <a:off x="0" y="0"/>
          <a:ext cx="0" cy="0"/>
          <a:chOff x="0" y="0"/>
          <a:chExt cx="0" cy="0"/>
        </a:xfrm>
      </p:grpSpPr>
      <p:sp>
        <p:nvSpPr>
          <p:cNvPr id="2" name="Text 0"/>
          <p:cNvSpPr/>
          <p:nvPr/>
        </p:nvSpPr>
        <p:spPr>
          <a:xfrm>
            <a:off x="812800" y="71120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8BDF8"/>
                </a:solidFill>
                <a:latin typeface="IBM Plex Sans" pitchFamily="34" charset="0"/>
                <a:ea typeface="IBM Plex Sans" pitchFamily="34" charset="-122"/>
                <a:cs typeface="IBM Plex Sans" pitchFamily="34" charset="-120"/>
              </a:rPr>
              <a:t>WHAT IS NEW</a:t>
            </a:r>
            <a:endParaRPr lang="en-US" sz="1200" dirty="0"/>
          </a:p>
        </p:txBody>
      </p:sp>
      <p:sp>
        <p:nvSpPr>
          <p:cNvPr id="3" name="Text 1"/>
          <p:cNvSpPr>
            <a:spLocks noGrp="1"/>
          </p:cNvSpPr>
          <p:nvPr>
            <p:ph type="title"/>
          </p:nvPr>
        </p:nvSpPr>
        <p:spPr>
          <a:xfrm>
            <a:off x="812800" y="962661"/>
            <a:ext cx="392430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DFEFF"/>
                </a:solidFill>
                <a:latin typeface="Rubik" pitchFamily="34" charset="0"/>
                <a:ea typeface="Rubik" pitchFamily="34" charset="-122"/>
                <a:cs typeface="Rubik" pitchFamily="34" charset="-120"/>
              </a:rPr>
              <a:t>Our Innovation</a:t>
            </a:r>
            <a:endParaRPr lang="en-US" sz="3400" dirty="0"/>
          </a:p>
        </p:txBody>
      </p:sp>
      <p:sp>
        <p:nvSpPr>
          <p:cNvPr id="4" name="Text 2"/>
          <p:cNvSpPr/>
          <p:nvPr/>
        </p:nvSpPr>
        <p:spPr>
          <a:xfrm>
            <a:off x="812800" y="2368232"/>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8BDF8"/>
                </a:solidFill>
                <a:latin typeface="IBM Plex Sans" pitchFamily="34" charset="0"/>
                <a:ea typeface="IBM Plex Sans" pitchFamily="34" charset="-122"/>
                <a:cs typeface="IBM Plex Sans" pitchFamily="34" charset="-120"/>
              </a:rPr>
              <a:t>CORE IDEA</a:t>
            </a:r>
            <a:endParaRPr lang="en-US" sz="1200" dirty="0"/>
          </a:p>
        </p:txBody>
      </p:sp>
      <p:sp>
        <p:nvSpPr>
          <p:cNvPr id="5" name="Text 3"/>
          <p:cNvSpPr/>
          <p:nvPr/>
        </p:nvSpPr>
        <p:spPr>
          <a:xfrm>
            <a:off x="812800" y="2657793"/>
            <a:ext cx="3924300"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DFEFF"/>
                </a:solidFill>
                <a:latin typeface="IBM Plex Sans" pitchFamily="34" charset="0"/>
                <a:ea typeface="IBM Plex Sans" pitchFamily="34" charset="-122"/>
                <a:cs typeface="IBM Plex Sans" pitchFamily="34" charset="-120"/>
              </a:rPr>
              <a:t>Secure multi-layer attendance verification instead of relying only on QR scanning.</a:t>
            </a:r>
            <a:endParaRPr lang="en-US" sz="1700" dirty="0"/>
          </a:p>
        </p:txBody>
      </p:sp>
      <p:sp>
        <p:nvSpPr>
          <p:cNvPr id="6" name="Shape 4"/>
          <p:cNvSpPr/>
          <p:nvPr/>
        </p:nvSpPr>
        <p:spPr>
          <a:xfrm>
            <a:off x="812800" y="4462780"/>
            <a:ext cx="3810000" cy="1379220"/>
          </a:xfrm>
          <a:prstGeom prst="roundRect">
            <a:avLst>
              <a:gd name="adj" fmla="val 7366"/>
            </a:avLst>
          </a:prstGeom>
          <a:solidFill>
            <a:srgbClr val="2A3441"/>
          </a:solidFill>
          <a:ln/>
        </p:spPr>
      </p:sp>
      <p:sp>
        <p:nvSpPr>
          <p:cNvPr id="7" name="Shape 5"/>
          <p:cNvSpPr/>
          <p:nvPr/>
        </p:nvSpPr>
        <p:spPr>
          <a:xfrm>
            <a:off x="812800" y="4462780"/>
            <a:ext cx="3810000" cy="1379220"/>
          </a:xfrm>
          <a:custGeom>
            <a:avLst/>
            <a:gdLst/>
            <a:ahLst/>
            <a:cxnLst/>
            <a:rect l="l" t="t" r="r" b="b"/>
            <a:pathLst>
              <a:path w="3810000" h="1379220">
                <a:moveTo>
                  <a:pt x="101600" y="1379220"/>
                </a:moveTo>
                <a:lnTo>
                  <a:pt x="101600" y="1379220"/>
                </a:lnTo>
                <a:arcTo wR="101600" hR="101600" stAng="5400000" swAng="5400000"/>
                <a:lnTo>
                  <a:pt x="0" y="101600"/>
                </a:lnTo>
                <a:arcTo wR="101600" hR="101600" stAng="10800000" swAng="5400000"/>
                <a:lnTo>
                  <a:pt x="101600" y="0"/>
                </a:lnTo>
                <a:arcTo wR="50800" hR="101600" stAng="16200000" swAng="-5400000"/>
                <a:lnTo>
                  <a:pt x="50800" y="1277620"/>
                </a:lnTo>
                <a:arcTo wR="50800" hR="101600" stAng="10800000" swAng="-5400000"/>
                <a:close/>
              </a:path>
            </a:pathLst>
          </a:custGeom>
          <a:solidFill>
            <a:srgbClr val="38BDF8"/>
          </a:solidFill>
          <a:ln/>
        </p:spPr>
      </p:sp>
      <p:sp>
        <p:nvSpPr>
          <p:cNvPr id="8" name="Text 6"/>
          <p:cNvSpPr/>
          <p:nvPr/>
        </p:nvSpPr>
        <p:spPr>
          <a:xfrm>
            <a:off x="1041400" y="4640580"/>
            <a:ext cx="350570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8BDF8"/>
                </a:solidFill>
                <a:latin typeface="IBM Plex Sans" pitchFamily="34" charset="0"/>
                <a:ea typeface="IBM Plex Sans" pitchFamily="34" charset="-122"/>
                <a:cs typeface="IBM Plex Sans" pitchFamily="34" charset="-120"/>
              </a:rPr>
              <a:t>WHY IT IS DIFFERENT</a:t>
            </a:r>
            <a:endParaRPr lang="en-US" sz="1200" dirty="0"/>
          </a:p>
        </p:txBody>
      </p:sp>
      <p:sp>
        <p:nvSpPr>
          <p:cNvPr id="9" name="Text 7"/>
          <p:cNvSpPr/>
          <p:nvPr/>
        </p:nvSpPr>
        <p:spPr>
          <a:xfrm>
            <a:off x="1041400" y="4917441"/>
            <a:ext cx="350570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D0DE"/>
                </a:solidFill>
                <a:latin typeface="IBM Plex Sans" pitchFamily="34" charset="0"/>
                <a:ea typeface="IBM Plex Sans" pitchFamily="34" charset="-122"/>
                <a:cs typeface="IBM Plex Sans" pitchFamily="34" charset="-120"/>
              </a:rPr>
              <a:t>Traditional QR attendance can be cheated. Every extra layer makes sure only genuine students can mark attendance.</a:t>
            </a:r>
            <a:endParaRPr lang="en-US" sz="1400" dirty="0"/>
          </a:p>
        </p:txBody>
      </p:sp>
      <p:sp>
        <p:nvSpPr>
          <p:cNvPr id="10" name="Shape 8"/>
          <p:cNvSpPr/>
          <p:nvPr/>
        </p:nvSpPr>
        <p:spPr>
          <a:xfrm>
            <a:off x="5029200" y="803911"/>
            <a:ext cx="6350000" cy="944880"/>
          </a:xfrm>
          <a:prstGeom prst="roundRect">
            <a:avLst>
              <a:gd name="adj" fmla="val 10753"/>
            </a:avLst>
          </a:prstGeom>
          <a:solidFill>
            <a:srgbClr val="243244"/>
          </a:solidFill>
          <a:ln/>
        </p:spPr>
      </p:sp>
      <p:sp>
        <p:nvSpPr>
          <p:cNvPr id="11" name="Shape 9"/>
          <p:cNvSpPr/>
          <p:nvPr/>
        </p:nvSpPr>
        <p:spPr>
          <a:xfrm>
            <a:off x="5029200" y="803911"/>
            <a:ext cx="6350000" cy="944880"/>
          </a:xfrm>
          <a:custGeom>
            <a:avLst/>
            <a:gdLst/>
            <a:ahLst/>
            <a:cxnLst/>
            <a:rect l="l" t="t" r="r" b="b"/>
            <a:pathLst>
              <a:path w="6350000" h="944880">
                <a:moveTo>
                  <a:pt x="101600" y="944880"/>
                </a:moveTo>
                <a:lnTo>
                  <a:pt x="101600" y="944880"/>
                </a:lnTo>
                <a:arcTo wR="101600" hR="101600" stAng="5400000" swAng="5400000"/>
                <a:lnTo>
                  <a:pt x="0" y="101600"/>
                </a:lnTo>
                <a:arcTo wR="101600" hR="101600" stAng="10800000" swAng="5400000"/>
                <a:lnTo>
                  <a:pt x="101600" y="0"/>
                </a:lnTo>
                <a:arcTo wR="50800" hR="101600" stAng="16200000" swAng="-5400000"/>
                <a:lnTo>
                  <a:pt x="50800" y="843280"/>
                </a:lnTo>
                <a:arcTo wR="50800" hR="101600" stAng="10800000" swAng="-5400000"/>
                <a:close/>
              </a:path>
            </a:pathLst>
          </a:custGeom>
          <a:solidFill>
            <a:srgbClr val="1D4ED8"/>
          </a:solidFill>
          <a:ln/>
        </p:spPr>
      </p:sp>
      <p:sp>
        <p:nvSpPr>
          <p:cNvPr id="12" name="Text 10"/>
          <p:cNvSpPr/>
          <p:nvPr/>
        </p:nvSpPr>
        <p:spPr>
          <a:xfrm>
            <a:off x="5257800" y="1098550"/>
            <a:ext cx="355600" cy="355600"/>
          </a:xfrm>
          <a:prstGeom prst="roundRect">
            <a:avLst>
              <a:gd name="adj" fmla="val 50000"/>
            </a:avLst>
          </a:prstGeom>
          <a:solidFill>
            <a:srgbClr val="1D4ED8"/>
          </a:solidFill>
          <a:ln/>
        </p:spPr>
        <p:txBody>
          <a:bodyPr wrap="square" lIns="0" tIns="0" rIns="0" bIns="0" rtlCol="0" anchor="ctr">
            <a:normAutofit/>
          </a:bodyPr>
          <a:lstStyle/>
          <a:p>
            <a:pPr marL="0" indent="0" algn="ctr">
              <a:lnSpc>
                <a:spcPts val="1960"/>
              </a:lnSpc>
              <a:buNone/>
            </a:pPr>
            <a:r>
              <a:rPr lang="en-US" sz="1400" b="1" dirty="0">
                <a:solidFill>
                  <a:srgbClr val="FDFEFF"/>
                </a:solidFill>
                <a:latin typeface="IBM Plex Sans" pitchFamily="34" charset="0"/>
                <a:ea typeface="IBM Plex Sans" pitchFamily="34" charset="-122"/>
                <a:cs typeface="IBM Plex Sans" pitchFamily="34" charset="-120"/>
              </a:rPr>
              <a:t>1</a:t>
            </a:r>
            <a:endParaRPr lang="en-US" sz="1400" dirty="0"/>
          </a:p>
        </p:txBody>
      </p:sp>
      <p:sp>
        <p:nvSpPr>
          <p:cNvPr id="13" name="Text 11"/>
          <p:cNvSpPr/>
          <p:nvPr/>
        </p:nvSpPr>
        <p:spPr>
          <a:xfrm>
            <a:off x="5740400" y="905511"/>
            <a:ext cx="562483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EFF"/>
                </a:solidFill>
                <a:latin typeface="IBM Plex Sans" pitchFamily="34" charset="0"/>
                <a:ea typeface="IBM Plex Sans" pitchFamily="34" charset="-122"/>
                <a:cs typeface="IBM Plex Sans" pitchFamily="34" charset="-120"/>
              </a:rPr>
              <a:t>Identity</a:t>
            </a:r>
            <a:endParaRPr lang="en-US" sz="1500" dirty="0"/>
          </a:p>
        </p:txBody>
      </p:sp>
      <p:sp>
        <p:nvSpPr>
          <p:cNvPr id="14" name="Text 12"/>
          <p:cNvSpPr/>
          <p:nvPr/>
        </p:nvSpPr>
        <p:spPr>
          <a:xfrm>
            <a:off x="5740400" y="1184911"/>
            <a:ext cx="562483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D0DE"/>
                </a:solidFill>
                <a:latin typeface="IBM Plex Sans" pitchFamily="34" charset="0"/>
                <a:ea typeface="IBM Plex Sans" pitchFamily="34" charset="-122"/>
                <a:cs typeface="IBM Plex Sans" pitchFamily="34" charset="-120"/>
              </a:rPr>
              <a:t>JWT authentication · Email OTP · Role-based access (Admin, Faculty, Student)</a:t>
            </a:r>
            <a:endParaRPr lang="en-US" sz="1300" dirty="0"/>
          </a:p>
        </p:txBody>
      </p:sp>
      <p:sp>
        <p:nvSpPr>
          <p:cNvPr id="15" name="Shape 13"/>
          <p:cNvSpPr/>
          <p:nvPr/>
        </p:nvSpPr>
        <p:spPr>
          <a:xfrm>
            <a:off x="5187950" y="1824991"/>
            <a:ext cx="6032500" cy="713740"/>
          </a:xfrm>
          <a:prstGeom prst="roundRect">
            <a:avLst>
              <a:gd name="adj" fmla="val 14235"/>
            </a:avLst>
          </a:prstGeom>
          <a:solidFill>
            <a:srgbClr val="243244"/>
          </a:solidFill>
          <a:ln/>
        </p:spPr>
      </p:sp>
      <p:sp>
        <p:nvSpPr>
          <p:cNvPr id="16" name="Shape 14"/>
          <p:cNvSpPr/>
          <p:nvPr/>
        </p:nvSpPr>
        <p:spPr>
          <a:xfrm>
            <a:off x="5187950" y="1824991"/>
            <a:ext cx="6032500" cy="713740"/>
          </a:xfrm>
          <a:custGeom>
            <a:avLst/>
            <a:gdLst/>
            <a:ahLst/>
            <a:cxnLst/>
            <a:rect l="l" t="t" r="r" b="b"/>
            <a:pathLst>
              <a:path w="6032500" h="713740">
                <a:moveTo>
                  <a:pt x="101600" y="713740"/>
                </a:moveTo>
                <a:lnTo>
                  <a:pt x="101600" y="713740"/>
                </a:lnTo>
                <a:arcTo wR="101600" hR="101600" stAng="5400000" swAng="5400000"/>
                <a:lnTo>
                  <a:pt x="0" y="101600"/>
                </a:lnTo>
                <a:arcTo wR="101600" hR="101600" stAng="10800000" swAng="5400000"/>
                <a:lnTo>
                  <a:pt x="101600" y="0"/>
                </a:lnTo>
                <a:arcTo wR="50800" hR="101600" stAng="16200000" swAng="-5400000"/>
                <a:lnTo>
                  <a:pt x="50800" y="612140"/>
                </a:lnTo>
                <a:arcTo wR="50800" hR="101600" stAng="10800000" swAng="-5400000"/>
                <a:close/>
              </a:path>
            </a:pathLst>
          </a:custGeom>
          <a:solidFill>
            <a:srgbClr val="2563EB"/>
          </a:solidFill>
          <a:ln/>
        </p:spPr>
      </p:sp>
      <p:sp>
        <p:nvSpPr>
          <p:cNvPr id="17" name="Text 15"/>
          <p:cNvSpPr/>
          <p:nvPr/>
        </p:nvSpPr>
        <p:spPr>
          <a:xfrm>
            <a:off x="5416550" y="2004061"/>
            <a:ext cx="355600" cy="355600"/>
          </a:xfrm>
          <a:prstGeom prst="roundRect">
            <a:avLst>
              <a:gd name="adj" fmla="val 50000"/>
            </a:avLst>
          </a:prstGeom>
          <a:solidFill>
            <a:srgbClr val="2563EB"/>
          </a:solidFill>
          <a:ln/>
        </p:spPr>
        <p:txBody>
          <a:bodyPr wrap="square" lIns="0" tIns="0" rIns="0" bIns="0" rtlCol="0" anchor="ctr">
            <a:normAutofit/>
          </a:bodyPr>
          <a:lstStyle/>
          <a:p>
            <a:pPr marL="0" indent="0" algn="ctr">
              <a:lnSpc>
                <a:spcPts val="1960"/>
              </a:lnSpc>
              <a:buNone/>
            </a:pPr>
            <a:r>
              <a:rPr lang="en-US" sz="1400" b="1" dirty="0">
                <a:solidFill>
                  <a:srgbClr val="FDFEFF"/>
                </a:solidFill>
                <a:latin typeface="IBM Plex Sans" pitchFamily="34" charset="0"/>
                <a:ea typeface="IBM Plex Sans" pitchFamily="34" charset="-122"/>
                <a:cs typeface="IBM Plex Sans" pitchFamily="34" charset="-120"/>
              </a:rPr>
              <a:t>2</a:t>
            </a:r>
            <a:endParaRPr lang="en-US" sz="1400" dirty="0"/>
          </a:p>
        </p:txBody>
      </p:sp>
      <p:sp>
        <p:nvSpPr>
          <p:cNvPr id="18" name="Text 16"/>
          <p:cNvSpPr/>
          <p:nvPr/>
        </p:nvSpPr>
        <p:spPr>
          <a:xfrm>
            <a:off x="5899150" y="1926591"/>
            <a:ext cx="52978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EFF"/>
                </a:solidFill>
                <a:latin typeface="IBM Plex Sans" pitchFamily="34" charset="0"/>
                <a:ea typeface="IBM Plex Sans" pitchFamily="34" charset="-122"/>
                <a:cs typeface="IBM Plex Sans" pitchFamily="34" charset="-120"/>
              </a:rPr>
              <a:t>QR token</a:t>
            </a:r>
            <a:endParaRPr lang="en-US" sz="1500" dirty="0"/>
          </a:p>
        </p:txBody>
      </p:sp>
      <p:sp>
        <p:nvSpPr>
          <p:cNvPr id="19" name="Text 17"/>
          <p:cNvSpPr/>
          <p:nvPr/>
        </p:nvSpPr>
        <p:spPr>
          <a:xfrm>
            <a:off x="5899150" y="2205991"/>
            <a:ext cx="529780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D0DE"/>
                </a:solidFill>
                <a:latin typeface="IBM Plex Sans" pitchFamily="34" charset="0"/>
                <a:ea typeface="IBM Plex Sans" pitchFamily="34" charset="-122"/>
                <a:cs typeface="IBM Plex Sans" pitchFamily="34" charset="-120"/>
              </a:rPr>
              <a:t>Dynamic QR per class · 30-second expiry · One-time token</a:t>
            </a:r>
            <a:endParaRPr lang="en-US" sz="1300" dirty="0"/>
          </a:p>
        </p:txBody>
      </p:sp>
      <p:sp>
        <p:nvSpPr>
          <p:cNvPr id="20" name="Shape 18"/>
          <p:cNvSpPr/>
          <p:nvPr/>
        </p:nvSpPr>
        <p:spPr>
          <a:xfrm>
            <a:off x="5346700" y="2614930"/>
            <a:ext cx="5715000" cy="713740"/>
          </a:xfrm>
          <a:prstGeom prst="roundRect">
            <a:avLst>
              <a:gd name="adj" fmla="val 14235"/>
            </a:avLst>
          </a:prstGeom>
          <a:solidFill>
            <a:srgbClr val="243244"/>
          </a:solidFill>
          <a:ln/>
        </p:spPr>
      </p:sp>
      <p:sp>
        <p:nvSpPr>
          <p:cNvPr id="21" name="Shape 19"/>
          <p:cNvSpPr/>
          <p:nvPr/>
        </p:nvSpPr>
        <p:spPr>
          <a:xfrm>
            <a:off x="5346700" y="2614930"/>
            <a:ext cx="5715000" cy="713740"/>
          </a:xfrm>
          <a:custGeom>
            <a:avLst/>
            <a:gdLst/>
            <a:ahLst/>
            <a:cxnLst/>
            <a:rect l="l" t="t" r="r" b="b"/>
            <a:pathLst>
              <a:path w="5715000" h="713740">
                <a:moveTo>
                  <a:pt x="101600" y="713740"/>
                </a:moveTo>
                <a:lnTo>
                  <a:pt x="101600" y="713740"/>
                </a:lnTo>
                <a:arcTo wR="101600" hR="101600" stAng="5400000" swAng="5400000"/>
                <a:lnTo>
                  <a:pt x="0" y="101600"/>
                </a:lnTo>
                <a:arcTo wR="101600" hR="101600" stAng="10800000" swAng="5400000"/>
                <a:lnTo>
                  <a:pt x="101600" y="0"/>
                </a:lnTo>
                <a:arcTo wR="50800" hR="101600" stAng="16200000" swAng="-5400000"/>
                <a:lnTo>
                  <a:pt x="50800" y="612140"/>
                </a:lnTo>
                <a:arcTo wR="50800" hR="101600" stAng="10800000" swAng="-5400000"/>
                <a:close/>
              </a:path>
            </a:pathLst>
          </a:custGeom>
          <a:solidFill>
            <a:srgbClr val="3B82F6"/>
          </a:solidFill>
          <a:ln/>
        </p:spPr>
      </p:sp>
      <p:sp>
        <p:nvSpPr>
          <p:cNvPr id="22" name="Text 20"/>
          <p:cNvSpPr/>
          <p:nvPr/>
        </p:nvSpPr>
        <p:spPr>
          <a:xfrm>
            <a:off x="5575300" y="2794000"/>
            <a:ext cx="355600" cy="355600"/>
          </a:xfrm>
          <a:prstGeom prst="roundRect">
            <a:avLst>
              <a:gd name="adj" fmla="val 50000"/>
            </a:avLst>
          </a:prstGeom>
          <a:solidFill>
            <a:srgbClr val="3B82F6"/>
          </a:solidFill>
          <a:ln/>
        </p:spPr>
        <p:txBody>
          <a:bodyPr wrap="square" lIns="0" tIns="0" rIns="0" bIns="0" rtlCol="0" anchor="ctr">
            <a:normAutofit/>
          </a:bodyPr>
          <a:lstStyle/>
          <a:p>
            <a:pPr marL="0" indent="0" algn="ctr">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3</a:t>
            </a:r>
            <a:endParaRPr lang="en-US" sz="1400" dirty="0"/>
          </a:p>
        </p:txBody>
      </p:sp>
      <p:sp>
        <p:nvSpPr>
          <p:cNvPr id="23" name="Text 21"/>
          <p:cNvSpPr/>
          <p:nvPr/>
        </p:nvSpPr>
        <p:spPr>
          <a:xfrm>
            <a:off x="6057900" y="2716530"/>
            <a:ext cx="49707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EFF"/>
                </a:solidFill>
                <a:latin typeface="IBM Plex Sans" pitchFamily="34" charset="0"/>
                <a:ea typeface="IBM Plex Sans" pitchFamily="34" charset="-122"/>
                <a:cs typeface="IBM Plex Sans" pitchFamily="34" charset="-120"/>
              </a:rPr>
              <a:t>Location</a:t>
            </a:r>
            <a:endParaRPr lang="en-US" sz="1500" dirty="0"/>
          </a:p>
        </p:txBody>
      </p:sp>
      <p:sp>
        <p:nvSpPr>
          <p:cNvPr id="24" name="Text 22"/>
          <p:cNvSpPr/>
          <p:nvPr/>
        </p:nvSpPr>
        <p:spPr>
          <a:xfrm>
            <a:off x="6057900" y="2995930"/>
            <a:ext cx="49707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D0DE"/>
                </a:solidFill>
                <a:latin typeface="IBM Plex Sans" pitchFamily="34" charset="0"/>
                <a:ea typeface="IBM Plex Sans" pitchFamily="34" charset="-122"/>
                <a:cs typeface="IBM Plex Sans" pitchFamily="34" charset="-120"/>
              </a:rPr>
              <a:t>GPS location verification</a:t>
            </a:r>
            <a:endParaRPr lang="en-US" sz="1300" dirty="0"/>
          </a:p>
        </p:txBody>
      </p:sp>
      <p:sp>
        <p:nvSpPr>
          <p:cNvPr id="25" name="Shape 23"/>
          <p:cNvSpPr/>
          <p:nvPr/>
        </p:nvSpPr>
        <p:spPr>
          <a:xfrm>
            <a:off x="5505450" y="3404870"/>
            <a:ext cx="5397500" cy="713740"/>
          </a:xfrm>
          <a:prstGeom prst="roundRect">
            <a:avLst>
              <a:gd name="adj" fmla="val 14235"/>
            </a:avLst>
          </a:prstGeom>
          <a:solidFill>
            <a:srgbClr val="243244"/>
          </a:solidFill>
          <a:ln/>
        </p:spPr>
      </p:sp>
      <p:sp>
        <p:nvSpPr>
          <p:cNvPr id="26" name="Shape 24"/>
          <p:cNvSpPr/>
          <p:nvPr/>
        </p:nvSpPr>
        <p:spPr>
          <a:xfrm>
            <a:off x="5505450" y="3404870"/>
            <a:ext cx="5397500" cy="713740"/>
          </a:xfrm>
          <a:custGeom>
            <a:avLst/>
            <a:gdLst/>
            <a:ahLst/>
            <a:cxnLst/>
            <a:rect l="l" t="t" r="r" b="b"/>
            <a:pathLst>
              <a:path w="5397500" h="713740">
                <a:moveTo>
                  <a:pt x="101600" y="713740"/>
                </a:moveTo>
                <a:lnTo>
                  <a:pt x="101600" y="713740"/>
                </a:lnTo>
                <a:arcTo wR="101600" hR="101600" stAng="5400000" swAng="5400000"/>
                <a:lnTo>
                  <a:pt x="0" y="101600"/>
                </a:lnTo>
                <a:arcTo wR="101600" hR="101600" stAng="10800000" swAng="5400000"/>
                <a:lnTo>
                  <a:pt x="101600" y="0"/>
                </a:lnTo>
                <a:arcTo wR="50800" hR="101600" stAng="16200000" swAng="-5400000"/>
                <a:lnTo>
                  <a:pt x="50800" y="612140"/>
                </a:lnTo>
                <a:arcTo wR="50800" hR="101600" stAng="10800000" swAng="-5400000"/>
                <a:close/>
              </a:path>
            </a:pathLst>
          </a:custGeom>
          <a:solidFill>
            <a:srgbClr val="60A5FA"/>
          </a:solidFill>
          <a:ln/>
        </p:spPr>
      </p:sp>
      <p:sp>
        <p:nvSpPr>
          <p:cNvPr id="27" name="Text 25"/>
          <p:cNvSpPr/>
          <p:nvPr/>
        </p:nvSpPr>
        <p:spPr>
          <a:xfrm>
            <a:off x="5734050" y="3583941"/>
            <a:ext cx="355600" cy="355600"/>
          </a:xfrm>
          <a:prstGeom prst="roundRect">
            <a:avLst>
              <a:gd name="adj" fmla="val 50000"/>
            </a:avLst>
          </a:prstGeom>
          <a:solidFill>
            <a:srgbClr val="60A5FA"/>
          </a:solidFill>
          <a:ln/>
        </p:spPr>
        <p:txBody>
          <a:bodyPr wrap="square" lIns="0" tIns="0" rIns="0" bIns="0" rtlCol="0" anchor="ctr">
            <a:normAutofit/>
          </a:bodyPr>
          <a:lstStyle/>
          <a:p>
            <a:pPr marL="0" indent="0" algn="ctr">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4</a:t>
            </a:r>
            <a:endParaRPr lang="en-US" sz="1400" dirty="0"/>
          </a:p>
        </p:txBody>
      </p:sp>
      <p:sp>
        <p:nvSpPr>
          <p:cNvPr id="28" name="Text 26"/>
          <p:cNvSpPr/>
          <p:nvPr/>
        </p:nvSpPr>
        <p:spPr>
          <a:xfrm>
            <a:off x="6216650" y="3506470"/>
            <a:ext cx="46437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EFF"/>
                </a:solidFill>
                <a:latin typeface="IBM Plex Sans" pitchFamily="34" charset="0"/>
                <a:ea typeface="IBM Plex Sans" pitchFamily="34" charset="-122"/>
                <a:cs typeface="IBM Plex Sans" pitchFamily="34" charset="-120"/>
              </a:rPr>
              <a:t>Device</a:t>
            </a:r>
            <a:endParaRPr lang="en-US" sz="1500" dirty="0"/>
          </a:p>
        </p:txBody>
      </p:sp>
      <p:sp>
        <p:nvSpPr>
          <p:cNvPr id="29" name="Text 27"/>
          <p:cNvSpPr/>
          <p:nvPr/>
        </p:nvSpPr>
        <p:spPr>
          <a:xfrm>
            <a:off x="6216650" y="3785870"/>
            <a:ext cx="464375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D0DE"/>
                </a:solidFill>
                <a:latin typeface="IBM Plex Sans" pitchFamily="34" charset="0"/>
                <a:ea typeface="IBM Plex Sans" pitchFamily="34" charset="-122"/>
                <a:cs typeface="IBM Plex Sans" pitchFamily="34" charset="-120"/>
              </a:rPr>
              <a:t>Device fingerprinting</a:t>
            </a:r>
            <a:endParaRPr lang="en-US" sz="1300" dirty="0"/>
          </a:p>
        </p:txBody>
      </p:sp>
      <p:sp>
        <p:nvSpPr>
          <p:cNvPr id="30" name="Shape 28"/>
          <p:cNvSpPr/>
          <p:nvPr/>
        </p:nvSpPr>
        <p:spPr>
          <a:xfrm>
            <a:off x="5664200" y="4194811"/>
            <a:ext cx="5080000" cy="713740"/>
          </a:xfrm>
          <a:prstGeom prst="roundRect">
            <a:avLst>
              <a:gd name="adj" fmla="val 14235"/>
            </a:avLst>
          </a:prstGeom>
          <a:solidFill>
            <a:srgbClr val="243244"/>
          </a:solidFill>
          <a:ln/>
        </p:spPr>
      </p:sp>
      <p:sp>
        <p:nvSpPr>
          <p:cNvPr id="31" name="Shape 29"/>
          <p:cNvSpPr/>
          <p:nvPr/>
        </p:nvSpPr>
        <p:spPr>
          <a:xfrm>
            <a:off x="5664200" y="4194811"/>
            <a:ext cx="5080000" cy="713740"/>
          </a:xfrm>
          <a:custGeom>
            <a:avLst/>
            <a:gdLst/>
            <a:ahLst/>
            <a:cxnLst/>
            <a:rect l="l" t="t" r="r" b="b"/>
            <a:pathLst>
              <a:path w="5080000" h="713740">
                <a:moveTo>
                  <a:pt x="101600" y="713740"/>
                </a:moveTo>
                <a:lnTo>
                  <a:pt x="101600" y="713740"/>
                </a:lnTo>
                <a:arcTo wR="101600" hR="101600" stAng="5400000" swAng="5400000"/>
                <a:lnTo>
                  <a:pt x="0" y="101600"/>
                </a:lnTo>
                <a:arcTo wR="101600" hR="101600" stAng="10800000" swAng="5400000"/>
                <a:lnTo>
                  <a:pt x="101600" y="0"/>
                </a:lnTo>
                <a:arcTo wR="50800" hR="101600" stAng="16200000" swAng="-5400000"/>
                <a:lnTo>
                  <a:pt x="50800" y="612140"/>
                </a:lnTo>
                <a:arcTo wR="50800" hR="101600" stAng="10800000" swAng="-5400000"/>
                <a:close/>
              </a:path>
            </a:pathLst>
          </a:custGeom>
          <a:solidFill>
            <a:srgbClr val="93C5FD"/>
          </a:solidFill>
          <a:ln/>
        </p:spPr>
      </p:sp>
      <p:sp>
        <p:nvSpPr>
          <p:cNvPr id="32" name="Text 30"/>
          <p:cNvSpPr/>
          <p:nvPr/>
        </p:nvSpPr>
        <p:spPr>
          <a:xfrm>
            <a:off x="5892800" y="4373880"/>
            <a:ext cx="355600" cy="355600"/>
          </a:xfrm>
          <a:prstGeom prst="roundRect">
            <a:avLst>
              <a:gd name="adj" fmla="val 50000"/>
            </a:avLst>
          </a:prstGeom>
          <a:solidFill>
            <a:srgbClr val="93C5FD"/>
          </a:solidFill>
          <a:ln/>
        </p:spPr>
        <p:txBody>
          <a:bodyPr wrap="square" lIns="0" tIns="0" rIns="0" bIns="0" rtlCol="0" anchor="ctr">
            <a:normAutofit/>
          </a:bodyPr>
          <a:lstStyle/>
          <a:p>
            <a:pPr marL="0" indent="0" algn="ctr">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5</a:t>
            </a:r>
            <a:endParaRPr lang="en-US" sz="1400" dirty="0"/>
          </a:p>
        </p:txBody>
      </p:sp>
      <p:sp>
        <p:nvSpPr>
          <p:cNvPr id="33" name="Text 31"/>
          <p:cNvSpPr/>
          <p:nvPr/>
        </p:nvSpPr>
        <p:spPr>
          <a:xfrm>
            <a:off x="6375400" y="4296411"/>
            <a:ext cx="431673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EFF"/>
                </a:solidFill>
                <a:latin typeface="IBM Plex Sans" pitchFamily="34" charset="0"/>
                <a:ea typeface="IBM Plex Sans" pitchFamily="34" charset="-122"/>
                <a:cs typeface="IBM Plex Sans" pitchFamily="34" charset="-120"/>
              </a:rPr>
              <a:t>Person</a:t>
            </a:r>
            <a:endParaRPr lang="en-US" sz="1500" dirty="0"/>
          </a:p>
        </p:txBody>
      </p:sp>
      <p:sp>
        <p:nvSpPr>
          <p:cNvPr id="34" name="Text 32"/>
          <p:cNvSpPr/>
          <p:nvPr/>
        </p:nvSpPr>
        <p:spPr>
          <a:xfrm>
            <a:off x="6375400" y="4575811"/>
            <a:ext cx="431673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D0DE"/>
                </a:solidFill>
                <a:latin typeface="IBM Plex Sans" pitchFamily="34" charset="0"/>
                <a:ea typeface="IBM Plex Sans" pitchFamily="34" charset="-122"/>
                <a:cs typeface="IBM Plex Sans" pitchFamily="34" charset="-120"/>
              </a:rPr>
              <a:t>Live selfie face verification</a:t>
            </a:r>
            <a:endParaRPr lang="en-US" sz="1300" dirty="0"/>
          </a:p>
        </p:txBody>
      </p:sp>
      <p:sp>
        <p:nvSpPr>
          <p:cNvPr id="35" name="Shape 33"/>
          <p:cNvSpPr/>
          <p:nvPr/>
        </p:nvSpPr>
        <p:spPr>
          <a:xfrm>
            <a:off x="5822950" y="4984750"/>
            <a:ext cx="4762500" cy="764540"/>
          </a:xfrm>
          <a:prstGeom prst="roundRect">
            <a:avLst>
              <a:gd name="adj" fmla="val 13289"/>
            </a:avLst>
          </a:prstGeom>
          <a:solidFill>
            <a:srgbClr val="2563EB"/>
          </a:solidFill>
          <a:ln/>
        </p:spPr>
      </p:sp>
      <p:pic>
        <p:nvPicPr>
          <p:cNvPr id="36" name="Image 0" descr="CheckCircle"/>
          <p:cNvPicPr>
            <a:picLocks noChangeAspect="1"/>
          </p:cNvPicPr>
          <p:nvPr/>
        </p:nvPicPr>
        <p:blipFill>
          <a:blip r:embed="rId3"/>
          <a:srcRect/>
          <a:stretch/>
        </p:blipFill>
        <p:spPr>
          <a:xfrm>
            <a:off x="6000750" y="5214620"/>
            <a:ext cx="304800" cy="304800"/>
          </a:xfrm>
          <a:prstGeom prst="rect">
            <a:avLst/>
          </a:prstGeom>
        </p:spPr>
      </p:pic>
      <p:sp>
        <p:nvSpPr>
          <p:cNvPr id="37" name="Text 34"/>
          <p:cNvSpPr/>
          <p:nvPr/>
        </p:nvSpPr>
        <p:spPr>
          <a:xfrm>
            <a:off x="6432550" y="5111750"/>
            <a:ext cx="409435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DFEFF"/>
                </a:solidFill>
                <a:latin typeface="IBM Plex Sans" pitchFamily="34" charset="0"/>
                <a:ea typeface="IBM Plex Sans" pitchFamily="34" charset="-122"/>
                <a:cs typeface="IBM Plex Sans" pitchFamily="34" charset="-120"/>
              </a:rPr>
              <a:t>Verified attendance</a:t>
            </a:r>
            <a:endParaRPr lang="en-US" sz="1500" dirty="0"/>
          </a:p>
        </p:txBody>
      </p:sp>
      <p:sp>
        <p:nvSpPr>
          <p:cNvPr id="38" name="Text 35"/>
          <p:cNvSpPr/>
          <p:nvPr/>
        </p:nvSpPr>
        <p:spPr>
          <a:xfrm>
            <a:off x="6432550" y="5391150"/>
            <a:ext cx="40943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DFEFF"/>
                </a:solidFill>
                <a:latin typeface="IBM Plex Sans" pitchFamily="34" charset="0"/>
                <a:ea typeface="IBM Plex Sans" pitchFamily="34" charset="-122"/>
                <a:cs typeface="IBM Plex Sans" pitchFamily="34" charset="-120"/>
              </a:rPr>
              <a:t>Analytics dashboard updated for faculty</a:t>
            </a:r>
            <a:endParaRPr lang="en-US" sz="1300" dirty="0"/>
          </a:p>
        </p:txBody>
      </p:sp>
      <p:sp>
        <p:nvSpPr>
          <p:cNvPr id="39" name="Text 36"/>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8BA"/>
                </a:solidFill>
                <a:latin typeface="IBM Plex Sans" pitchFamily="34" charset="0"/>
                <a:ea typeface="IBM Plex Sans" pitchFamily="34" charset="-122"/>
                <a:cs typeface="IBM Plex Sans" pitchFamily="34" charset="-120"/>
              </a:rPr>
              <a:t>Smart Attendance System · Secure QR Verification</a:t>
            </a:r>
            <a:endParaRPr lang="en-US" sz="1200" dirty="0"/>
          </a:p>
        </p:txBody>
      </p:sp>
      <p:sp>
        <p:nvSpPr>
          <p:cNvPr id="40" name="Text 37"/>
          <p:cNvSpPr/>
          <p:nvPr/>
        </p:nvSpPr>
        <p:spPr>
          <a:xfrm>
            <a:off x="10312400" y="6238241"/>
            <a:ext cx="1066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8BA"/>
                </a:solidFill>
                <a:latin typeface="IBM Plex Sans" pitchFamily="34" charset="0"/>
                <a:ea typeface="IBM Plex Sans" pitchFamily="34" charset="-122"/>
                <a:cs typeface="IBM Plex Sans" pitchFamily="34" charset="-120"/>
              </a:rPr>
              <a:t>03 / 07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812800" y="711200"/>
            <a:ext cx="3741330"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563EB"/>
                </a:solidFill>
                <a:latin typeface="IBM Plex Sans" pitchFamily="34" charset="0"/>
                <a:ea typeface="IBM Plex Sans" pitchFamily="34" charset="-122"/>
                <a:cs typeface="IBM Plex Sans" pitchFamily="34" charset="-120"/>
              </a:rPr>
              <a:t>HOW IT WORKS</a:t>
            </a:r>
            <a:endParaRPr lang="en-US" sz="1200" dirty="0"/>
          </a:p>
        </p:txBody>
      </p:sp>
      <p:sp>
        <p:nvSpPr>
          <p:cNvPr id="3" name="Text 1"/>
          <p:cNvSpPr>
            <a:spLocks noGrp="1"/>
          </p:cNvSpPr>
          <p:nvPr>
            <p:ph type="title"/>
          </p:nvPr>
        </p:nvSpPr>
        <p:spPr>
          <a:xfrm>
            <a:off x="812800" y="962661"/>
            <a:ext cx="4358831"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B2430"/>
                </a:solidFill>
                <a:latin typeface="Rubik" pitchFamily="34" charset="0"/>
                <a:ea typeface="Rubik" pitchFamily="34" charset="-122"/>
                <a:cs typeface="Rubik" pitchFamily="34" charset="-120"/>
              </a:rPr>
              <a:t>System Workflow</a:t>
            </a:r>
            <a:endParaRPr lang="en-US" sz="3400" dirty="0"/>
          </a:p>
        </p:txBody>
      </p:sp>
      <p:sp>
        <p:nvSpPr>
          <p:cNvPr id="4" name="Text 2"/>
          <p:cNvSpPr/>
          <p:nvPr/>
        </p:nvSpPr>
        <p:spPr>
          <a:xfrm>
            <a:off x="8328724" y="1224280"/>
            <a:ext cx="305047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B5563"/>
                </a:solidFill>
                <a:latin typeface="IBM Plex Sans" pitchFamily="34" charset="0"/>
                <a:ea typeface="IBM Plex Sans" pitchFamily="34" charset="-122"/>
                <a:cs typeface="IBM Plex Sans" pitchFamily="34" charset="-120"/>
              </a:rPr>
              <a:t>Highlighted steps are security checks</a:t>
            </a:r>
            <a:endParaRPr lang="en-US" sz="1200" dirty="0"/>
          </a:p>
        </p:txBody>
      </p:sp>
      <p:sp>
        <p:nvSpPr>
          <p:cNvPr id="5" name="Shape 3"/>
          <p:cNvSpPr/>
          <p:nvPr/>
        </p:nvSpPr>
        <p:spPr>
          <a:xfrm>
            <a:off x="815975" y="1717675"/>
            <a:ext cx="1521857" cy="1065530"/>
          </a:xfrm>
          <a:prstGeom prst="roundRect">
            <a:avLst>
              <a:gd name="adj" fmla="val 10429"/>
            </a:avLst>
          </a:prstGeom>
          <a:solidFill>
            <a:srgbClr val="FDFEFF"/>
          </a:solidFill>
          <a:ln w="6350">
            <a:solidFill>
              <a:srgbClr val="DCE5F0"/>
            </a:solidFill>
            <a:prstDash val="solid"/>
          </a:ln>
        </p:spPr>
      </p:sp>
      <p:sp>
        <p:nvSpPr>
          <p:cNvPr id="6" name="Text 4"/>
          <p:cNvSpPr/>
          <p:nvPr/>
        </p:nvSpPr>
        <p:spPr>
          <a:xfrm>
            <a:off x="1462564" y="18338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1</a:t>
            </a:r>
            <a:endParaRPr lang="en-US" sz="1200" dirty="0"/>
          </a:p>
        </p:txBody>
      </p:sp>
      <p:pic>
        <p:nvPicPr>
          <p:cNvPr id="7" name="Image 0" descr="Key"/>
          <p:cNvPicPr>
            <a:picLocks noChangeAspect="1"/>
          </p:cNvPicPr>
          <p:nvPr/>
        </p:nvPicPr>
        <p:blipFill>
          <a:blip r:embed="rId3"/>
          <a:srcRect/>
          <a:stretch/>
        </p:blipFill>
        <p:spPr>
          <a:xfrm>
            <a:off x="1437164" y="2125980"/>
            <a:ext cx="279400" cy="279400"/>
          </a:xfrm>
          <a:prstGeom prst="rect">
            <a:avLst/>
          </a:prstGeom>
        </p:spPr>
      </p:pic>
      <p:sp>
        <p:nvSpPr>
          <p:cNvPr id="8" name="Text 5"/>
          <p:cNvSpPr/>
          <p:nvPr/>
        </p:nvSpPr>
        <p:spPr>
          <a:xfrm>
            <a:off x="1018889" y="2468880"/>
            <a:ext cx="1115949"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Faculty Login</a:t>
            </a:r>
            <a:endParaRPr lang="en-US" sz="1200" dirty="0"/>
          </a:p>
        </p:txBody>
      </p:sp>
      <p:pic>
        <p:nvPicPr>
          <p:cNvPr id="9" name="Image 1" descr="arrow-right"/>
          <p:cNvPicPr>
            <a:picLocks noChangeAspect="1"/>
          </p:cNvPicPr>
          <p:nvPr/>
        </p:nvPicPr>
        <p:blipFill>
          <a:blip r:embed="rId4"/>
          <a:srcRect/>
          <a:stretch/>
        </p:blipFill>
        <p:spPr>
          <a:xfrm>
            <a:off x="2391807" y="2174241"/>
            <a:ext cx="177800" cy="152400"/>
          </a:xfrm>
          <a:prstGeom prst="rect">
            <a:avLst/>
          </a:prstGeom>
        </p:spPr>
      </p:pic>
      <p:sp>
        <p:nvSpPr>
          <p:cNvPr id="10" name="Shape 6"/>
          <p:cNvSpPr/>
          <p:nvPr/>
        </p:nvSpPr>
        <p:spPr>
          <a:xfrm>
            <a:off x="2623582" y="1618616"/>
            <a:ext cx="1521936" cy="1263650"/>
          </a:xfrm>
          <a:prstGeom prst="roundRect">
            <a:avLst>
              <a:gd name="adj" fmla="val 8794"/>
            </a:avLst>
          </a:prstGeom>
          <a:solidFill>
            <a:srgbClr val="FDFEFF"/>
          </a:solidFill>
          <a:ln w="6350">
            <a:solidFill>
              <a:srgbClr val="DCE5F0"/>
            </a:solidFill>
            <a:prstDash val="solid"/>
          </a:ln>
        </p:spPr>
      </p:sp>
      <p:sp>
        <p:nvSpPr>
          <p:cNvPr id="11" name="Text 7"/>
          <p:cNvSpPr/>
          <p:nvPr/>
        </p:nvSpPr>
        <p:spPr>
          <a:xfrm>
            <a:off x="3270250" y="173482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2</a:t>
            </a:r>
            <a:endParaRPr lang="en-US" sz="1200" dirty="0"/>
          </a:p>
        </p:txBody>
      </p:sp>
      <p:pic>
        <p:nvPicPr>
          <p:cNvPr id="12" name="Image 2" descr="Lock"/>
          <p:cNvPicPr>
            <a:picLocks noChangeAspect="1"/>
          </p:cNvPicPr>
          <p:nvPr/>
        </p:nvPicPr>
        <p:blipFill>
          <a:blip r:embed="rId5"/>
          <a:srcRect/>
          <a:stretch/>
        </p:blipFill>
        <p:spPr>
          <a:xfrm>
            <a:off x="3244850" y="2026920"/>
            <a:ext cx="279400" cy="279400"/>
          </a:xfrm>
          <a:prstGeom prst="rect">
            <a:avLst/>
          </a:prstGeom>
        </p:spPr>
      </p:pic>
      <p:sp>
        <p:nvSpPr>
          <p:cNvPr id="13" name="Text 8"/>
          <p:cNvSpPr/>
          <p:nvPr/>
        </p:nvSpPr>
        <p:spPr>
          <a:xfrm>
            <a:off x="2663587" y="2369820"/>
            <a:ext cx="1441926" cy="42164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Generate Secure QR</a:t>
            </a:r>
            <a:endParaRPr lang="en-US" sz="1200" dirty="0"/>
          </a:p>
        </p:txBody>
      </p:sp>
      <p:pic>
        <p:nvPicPr>
          <p:cNvPr id="14" name="Image 3" descr="arrow-right"/>
          <p:cNvPicPr>
            <a:picLocks noChangeAspect="1"/>
          </p:cNvPicPr>
          <p:nvPr/>
        </p:nvPicPr>
        <p:blipFill>
          <a:blip r:embed="rId4"/>
          <a:srcRect/>
          <a:stretch/>
        </p:blipFill>
        <p:spPr>
          <a:xfrm>
            <a:off x="4199493" y="2174241"/>
            <a:ext cx="177800" cy="152400"/>
          </a:xfrm>
          <a:prstGeom prst="rect">
            <a:avLst/>
          </a:prstGeom>
        </p:spPr>
      </p:pic>
      <p:sp>
        <p:nvSpPr>
          <p:cNvPr id="15" name="Shape 9"/>
          <p:cNvSpPr/>
          <p:nvPr/>
        </p:nvSpPr>
        <p:spPr>
          <a:xfrm>
            <a:off x="4431268" y="1618616"/>
            <a:ext cx="1521857" cy="1263650"/>
          </a:xfrm>
          <a:prstGeom prst="roundRect">
            <a:avLst>
              <a:gd name="adj" fmla="val 8794"/>
            </a:avLst>
          </a:prstGeom>
          <a:solidFill>
            <a:srgbClr val="FDFEFF"/>
          </a:solidFill>
          <a:ln w="6350">
            <a:solidFill>
              <a:srgbClr val="DCE5F0"/>
            </a:solidFill>
            <a:prstDash val="solid"/>
          </a:ln>
        </p:spPr>
      </p:sp>
      <p:sp>
        <p:nvSpPr>
          <p:cNvPr id="16" name="Text 10"/>
          <p:cNvSpPr/>
          <p:nvPr/>
        </p:nvSpPr>
        <p:spPr>
          <a:xfrm>
            <a:off x="5077857" y="173482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3</a:t>
            </a:r>
            <a:endParaRPr lang="en-US" sz="1200" dirty="0"/>
          </a:p>
        </p:txBody>
      </p:sp>
      <p:pic>
        <p:nvPicPr>
          <p:cNvPr id="17" name="Image 4" descr="PaperPlane"/>
          <p:cNvPicPr>
            <a:picLocks noChangeAspect="1"/>
          </p:cNvPicPr>
          <p:nvPr/>
        </p:nvPicPr>
        <p:blipFill>
          <a:blip r:embed="rId6"/>
          <a:srcRect/>
          <a:stretch/>
        </p:blipFill>
        <p:spPr>
          <a:xfrm>
            <a:off x="5052457" y="2026920"/>
            <a:ext cx="279400" cy="279400"/>
          </a:xfrm>
          <a:prstGeom prst="rect">
            <a:avLst/>
          </a:prstGeom>
        </p:spPr>
      </p:pic>
      <p:sp>
        <p:nvSpPr>
          <p:cNvPr id="18" name="Text 11"/>
          <p:cNvSpPr/>
          <p:nvPr/>
        </p:nvSpPr>
        <p:spPr>
          <a:xfrm>
            <a:off x="4471273" y="2369820"/>
            <a:ext cx="1441847" cy="42164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QR Sent to Students</a:t>
            </a:r>
            <a:endParaRPr lang="en-US" sz="1200" dirty="0"/>
          </a:p>
        </p:txBody>
      </p:sp>
      <p:pic>
        <p:nvPicPr>
          <p:cNvPr id="19" name="Image 5" descr="arrow-right"/>
          <p:cNvPicPr>
            <a:picLocks noChangeAspect="1"/>
          </p:cNvPicPr>
          <p:nvPr/>
        </p:nvPicPr>
        <p:blipFill>
          <a:blip r:embed="rId4"/>
          <a:srcRect/>
          <a:stretch/>
        </p:blipFill>
        <p:spPr>
          <a:xfrm>
            <a:off x="6007100" y="2174241"/>
            <a:ext cx="177800" cy="152400"/>
          </a:xfrm>
          <a:prstGeom prst="rect">
            <a:avLst/>
          </a:prstGeom>
        </p:spPr>
      </p:pic>
      <p:sp>
        <p:nvSpPr>
          <p:cNvPr id="20" name="Shape 12"/>
          <p:cNvSpPr/>
          <p:nvPr/>
        </p:nvSpPr>
        <p:spPr>
          <a:xfrm>
            <a:off x="6238875" y="1717675"/>
            <a:ext cx="1521936" cy="1065530"/>
          </a:xfrm>
          <a:prstGeom prst="roundRect">
            <a:avLst>
              <a:gd name="adj" fmla="val 10429"/>
            </a:avLst>
          </a:prstGeom>
          <a:solidFill>
            <a:srgbClr val="FDFEFF"/>
          </a:solidFill>
          <a:ln w="6350">
            <a:solidFill>
              <a:srgbClr val="DCE5F0"/>
            </a:solidFill>
            <a:prstDash val="solid"/>
          </a:ln>
        </p:spPr>
      </p:sp>
      <p:sp>
        <p:nvSpPr>
          <p:cNvPr id="21" name="Text 13"/>
          <p:cNvSpPr/>
          <p:nvPr/>
        </p:nvSpPr>
        <p:spPr>
          <a:xfrm>
            <a:off x="6885543" y="18338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4</a:t>
            </a:r>
            <a:endParaRPr lang="en-US" sz="1200" dirty="0"/>
          </a:p>
        </p:txBody>
      </p:sp>
      <p:pic>
        <p:nvPicPr>
          <p:cNvPr id="22" name="Image 6" descr="GraduationCap"/>
          <p:cNvPicPr>
            <a:picLocks noChangeAspect="1"/>
          </p:cNvPicPr>
          <p:nvPr/>
        </p:nvPicPr>
        <p:blipFill>
          <a:blip r:embed="rId7"/>
          <a:srcRect/>
          <a:stretch/>
        </p:blipFill>
        <p:spPr>
          <a:xfrm>
            <a:off x="6860143" y="2125980"/>
            <a:ext cx="279400" cy="279400"/>
          </a:xfrm>
          <a:prstGeom prst="rect">
            <a:avLst/>
          </a:prstGeom>
        </p:spPr>
      </p:pic>
      <p:sp>
        <p:nvSpPr>
          <p:cNvPr id="23" name="Text 14"/>
          <p:cNvSpPr/>
          <p:nvPr/>
        </p:nvSpPr>
        <p:spPr>
          <a:xfrm>
            <a:off x="6413873" y="2468880"/>
            <a:ext cx="1171861"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Student Login</a:t>
            </a:r>
            <a:endParaRPr lang="en-US" sz="1200" dirty="0"/>
          </a:p>
        </p:txBody>
      </p:sp>
      <p:pic>
        <p:nvPicPr>
          <p:cNvPr id="24" name="Image 7" descr="arrow-right"/>
          <p:cNvPicPr>
            <a:picLocks noChangeAspect="1"/>
          </p:cNvPicPr>
          <p:nvPr/>
        </p:nvPicPr>
        <p:blipFill>
          <a:blip r:embed="rId4"/>
          <a:srcRect/>
          <a:stretch/>
        </p:blipFill>
        <p:spPr>
          <a:xfrm>
            <a:off x="7814787" y="2174241"/>
            <a:ext cx="177800" cy="152400"/>
          </a:xfrm>
          <a:prstGeom prst="rect">
            <a:avLst/>
          </a:prstGeom>
        </p:spPr>
      </p:pic>
      <p:sp>
        <p:nvSpPr>
          <p:cNvPr id="25" name="Shape 15"/>
          <p:cNvSpPr/>
          <p:nvPr/>
        </p:nvSpPr>
        <p:spPr>
          <a:xfrm>
            <a:off x="8046562" y="1717675"/>
            <a:ext cx="1521857" cy="1065530"/>
          </a:xfrm>
          <a:prstGeom prst="roundRect">
            <a:avLst>
              <a:gd name="adj" fmla="val 10429"/>
            </a:avLst>
          </a:prstGeom>
          <a:solidFill>
            <a:srgbClr val="FDFEFF"/>
          </a:solidFill>
          <a:ln w="6350">
            <a:solidFill>
              <a:srgbClr val="DCE5F0"/>
            </a:solidFill>
            <a:prstDash val="solid"/>
          </a:ln>
        </p:spPr>
      </p:sp>
      <p:sp>
        <p:nvSpPr>
          <p:cNvPr id="26" name="Text 16"/>
          <p:cNvSpPr/>
          <p:nvPr/>
        </p:nvSpPr>
        <p:spPr>
          <a:xfrm>
            <a:off x="8693150" y="18338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5</a:t>
            </a:r>
            <a:endParaRPr lang="en-US" sz="1200" dirty="0"/>
          </a:p>
        </p:txBody>
      </p:sp>
      <p:pic>
        <p:nvPicPr>
          <p:cNvPr id="27" name="Image 8" descr="Search"/>
          <p:cNvPicPr>
            <a:picLocks noChangeAspect="1"/>
          </p:cNvPicPr>
          <p:nvPr/>
        </p:nvPicPr>
        <p:blipFill>
          <a:blip r:embed="rId8"/>
          <a:srcRect/>
          <a:stretch/>
        </p:blipFill>
        <p:spPr>
          <a:xfrm>
            <a:off x="8667750" y="2125980"/>
            <a:ext cx="279400" cy="279400"/>
          </a:xfrm>
          <a:prstGeom prst="rect">
            <a:avLst/>
          </a:prstGeom>
        </p:spPr>
      </p:pic>
      <p:sp>
        <p:nvSpPr>
          <p:cNvPr id="28" name="Text 17"/>
          <p:cNvSpPr/>
          <p:nvPr/>
        </p:nvSpPr>
        <p:spPr>
          <a:xfrm>
            <a:off x="8452358" y="2468880"/>
            <a:ext cx="710184"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Scan QR</a:t>
            </a:r>
            <a:endParaRPr lang="en-US" sz="1200" dirty="0"/>
          </a:p>
        </p:txBody>
      </p:sp>
      <p:pic>
        <p:nvPicPr>
          <p:cNvPr id="29" name="Image 9" descr="arrow-right"/>
          <p:cNvPicPr>
            <a:picLocks noChangeAspect="1"/>
          </p:cNvPicPr>
          <p:nvPr/>
        </p:nvPicPr>
        <p:blipFill>
          <a:blip r:embed="rId4"/>
          <a:srcRect/>
          <a:stretch/>
        </p:blipFill>
        <p:spPr>
          <a:xfrm>
            <a:off x="9622393" y="2174241"/>
            <a:ext cx="177800" cy="152400"/>
          </a:xfrm>
          <a:prstGeom prst="rect">
            <a:avLst/>
          </a:prstGeom>
        </p:spPr>
      </p:pic>
      <p:sp>
        <p:nvSpPr>
          <p:cNvPr id="30" name="Shape 18"/>
          <p:cNvSpPr/>
          <p:nvPr/>
        </p:nvSpPr>
        <p:spPr>
          <a:xfrm>
            <a:off x="9854168" y="1717675"/>
            <a:ext cx="1521857" cy="1065530"/>
          </a:xfrm>
          <a:prstGeom prst="roundRect">
            <a:avLst>
              <a:gd name="adj" fmla="val 10429"/>
            </a:avLst>
          </a:prstGeom>
          <a:solidFill>
            <a:srgbClr val="DBEAFE"/>
          </a:solidFill>
          <a:ln w="6350">
            <a:solidFill>
              <a:srgbClr val="93C5FD"/>
            </a:solidFill>
            <a:prstDash val="solid"/>
          </a:ln>
        </p:spPr>
      </p:sp>
      <p:sp>
        <p:nvSpPr>
          <p:cNvPr id="31" name="Text 19"/>
          <p:cNvSpPr/>
          <p:nvPr/>
        </p:nvSpPr>
        <p:spPr>
          <a:xfrm>
            <a:off x="10500757" y="18338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6</a:t>
            </a:r>
            <a:endParaRPr lang="en-US" sz="1200" dirty="0"/>
          </a:p>
        </p:txBody>
      </p:sp>
      <p:pic>
        <p:nvPicPr>
          <p:cNvPr id="32" name="Image 10" descr="Globe"/>
          <p:cNvPicPr>
            <a:picLocks noChangeAspect="1"/>
          </p:cNvPicPr>
          <p:nvPr/>
        </p:nvPicPr>
        <p:blipFill>
          <a:blip r:embed="rId9"/>
          <a:srcRect/>
          <a:stretch/>
        </p:blipFill>
        <p:spPr>
          <a:xfrm>
            <a:off x="10475357" y="2125980"/>
            <a:ext cx="279400" cy="279400"/>
          </a:xfrm>
          <a:prstGeom prst="rect">
            <a:avLst/>
          </a:prstGeom>
        </p:spPr>
      </p:pic>
      <p:sp>
        <p:nvSpPr>
          <p:cNvPr id="33" name="Text 20"/>
          <p:cNvSpPr/>
          <p:nvPr/>
        </p:nvSpPr>
        <p:spPr>
          <a:xfrm>
            <a:off x="9927924" y="2468880"/>
            <a:ext cx="1374267"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GPS Verification</a:t>
            </a:r>
            <a:endParaRPr lang="en-US" sz="1200" dirty="0"/>
          </a:p>
        </p:txBody>
      </p:sp>
      <p:sp>
        <p:nvSpPr>
          <p:cNvPr id="34" name="Shape 21"/>
          <p:cNvSpPr/>
          <p:nvPr/>
        </p:nvSpPr>
        <p:spPr>
          <a:xfrm>
            <a:off x="815975" y="3140075"/>
            <a:ext cx="1521857" cy="1065530"/>
          </a:xfrm>
          <a:prstGeom prst="roundRect">
            <a:avLst>
              <a:gd name="adj" fmla="val 10429"/>
            </a:avLst>
          </a:prstGeom>
          <a:solidFill>
            <a:srgbClr val="DBEAFE"/>
          </a:solidFill>
          <a:ln w="6350">
            <a:solidFill>
              <a:srgbClr val="93C5FD"/>
            </a:solidFill>
            <a:prstDash val="solid"/>
          </a:ln>
        </p:spPr>
      </p:sp>
      <p:sp>
        <p:nvSpPr>
          <p:cNvPr id="35" name="Text 22"/>
          <p:cNvSpPr/>
          <p:nvPr/>
        </p:nvSpPr>
        <p:spPr>
          <a:xfrm>
            <a:off x="1462564" y="32562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7</a:t>
            </a:r>
            <a:endParaRPr lang="en-US" sz="1200" dirty="0"/>
          </a:p>
        </p:txBody>
      </p:sp>
      <p:pic>
        <p:nvPicPr>
          <p:cNvPr id="36" name="Image 11" descr="Settings"/>
          <p:cNvPicPr>
            <a:picLocks noChangeAspect="1"/>
          </p:cNvPicPr>
          <p:nvPr/>
        </p:nvPicPr>
        <p:blipFill>
          <a:blip r:embed="rId10"/>
          <a:srcRect/>
          <a:stretch/>
        </p:blipFill>
        <p:spPr>
          <a:xfrm>
            <a:off x="1437164" y="3548380"/>
            <a:ext cx="279400" cy="279400"/>
          </a:xfrm>
          <a:prstGeom prst="rect">
            <a:avLst/>
          </a:prstGeom>
        </p:spPr>
      </p:pic>
      <p:sp>
        <p:nvSpPr>
          <p:cNvPr id="37" name="Text 23"/>
          <p:cNvSpPr/>
          <p:nvPr/>
        </p:nvSpPr>
        <p:spPr>
          <a:xfrm>
            <a:off x="819150" y="3891280"/>
            <a:ext cx="1515507"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Device Verification</a:t>
            </a:r>
            <a:endParaRPr lang="en-US" sz="1200" dirty="0"/>
          </a:p>
        </p:txBody>
      </p:sp>
      <p:pic>
        <p:nvPicPr>
          <p:cNvPr id="38" name="Image 12" descr="arrow-right"/>
          <p:cNvPicPr>
            <a:picLocks noChangeAspect="1"/>
          </p:cNvPicPr>
          <p:nvPr/>
        </p:nvPicPr>
        <p:blipFill>
          <a:blip r:embed="rId4"/>
          <a:srcRect/>
          <a:stretch/>
        </p:blipFill>
        <p:spPr>
          <a:xfrm>
            <a:off x="2391807" y="3596641"/>
            <a:ext cx="177800" cy="152400"/>
          </a:xfrm>
          <a:prstGeom prst="rect">
            <a:avLst/>
          </a:prstGeom>
        </p:spPr>
      </p:pic>
      <p:sp>
        <p:nvSpPr>
          <p:cNvPr id="39" name="Shape 24"/>
          <p:cNvSpPr/>
          <p:nvPr/>
        </p:nvSpPr>
        <p:spPr>
          <a:xfrm>
            <a:off x="2623582" y="3140075"/>
            <a:ext cx="1521936" cy="1065530"/>
          </a:xfrm>
          <a:prstGeom prst="roundRect">
            <a:avLst>
              <a:gd name="adj" fmla="val 10429"/>
            </a:avLst>
          </a:prstGeom>
          <a:solidFill>
            <a:srgbClr val="DBEAFE"/>
          </a:solidFill>
          <a:ln w="6350">
            <a:solidFill>
              <a:srgbClr val="93C5FD"/>
            </a:solidFill>
            <a:prstDash val="solid"/>
          </a:ln>
        </p:spPr>
      </p:sp>
      <p:sp>
        <p:nvSpPr>
          <p:cNvPr id="40" name="Text 25"/>
          <p:cNvSpPr/>
          <p:nvPr/>
        </p:nvSpPr>
        <p:spPr>
          <a:xfrm>
            <a:off x="3270250" y="32562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8</a:t>
            </a:r>
            <a:endParaRPr lang="en-US" sz="1200" dirty="0"/>
          </a:p>
        </p:txBody>
      </p:sp>
      <p:pic>
        <p:nvPicPr>
          <p:cNvPr id="41" name="Image 13" descr="Verified"/>
          <p:cNvPicPr>
            <a:picLocks noChangeAspect="1"/>
          </p:cNvPicPr>
          <p:nvPr/>
        </p:nvPicPr>
        <p:blipFill>
          <a:blip r:embed="rId11"/>
          <a:srcRect/>
          <a:stretch/>
        </p:blipFill>
        <p:spPr>
          <a:xfrm>
            <a:off x="3244850" y="3548380"/>
            <a:ext cx="279400" cy="279400"/>
          </a:xfrm>
          <a:prstGeom prst="rect">
            <a:avLst/>
          </a:prstGeom>
        </p:spPr>
      </p:pic>
      <p:sp>
        <p:nvSpPr>
          <p:cNvPr id="42" name="Text 26"/>
          <p:cNvSpPr/>
          <p:nvPr/>
        </p:nvSpPr>
        <p:spPr>
          <a:xfrm>
            <a:off x="2678660" y="3891280"/>
            <a:ext cx="1411700"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Face Verification</a:t>
            </a:r>
            <a:endParaRPr lang="en-US" sz="1200" dirty="0"/>
          </a:p>
        </p:txBody>
      </p:sp>
      <p:pic>
        <p:nvPicPr>
          <p:cNvPr id="43" name="Image 14" descr="arrow-right"/>
          <p:cNvPicPr>
            <a:picLocks noChangeAspect="1"/>
          </p:cNvPicPr>
          <p:nvPr/>
        </p:nvPicPr>
        <p:blipFill>
          <a:blip r:embed="rId4"/>
          <a:srcRect/>
          <a:stretch/>
        </p:blipFill>
        <p:spPr>
          <a:xfrm>
            <a:off x="4199493" y="3596641"/>
            <a:ext cx="177800" cy="152400"/>
          </a:xfrm>
          <a:prstGeom prst="rect">
            <a:avLst/>
          </a:prstGeom>
        </p:spPr>
      </p:pic>
      <p:sp>
        <p:nvSpPr>
          <p:cNvPr id="44" name="Shape 27"/>
          <p:cNvSpPr/>
          <p:nvPr/>
        </p:nvSpPr>
        <p:spPr>
          <a:xfrm>
            <a:off x="4431268" y="3140075"/>
            <a:ext cx="1521857" cy="1065530"/>
          </a:xfrm>
          <a:prstGeom prst="roundRect">
            <a:avLst>
              <a:gd name="adj" fmla="val 10429"/>
            </a:avLst>
          </a:prstGeom>
          <a:solidFill>
            <a:srgbClr val="DBEAFE"/>
          </a:solidFill>
          <a:ln w="6350">
            <a:solidFill>
              <a:srgbClr val="93C5FD"/>
            </a:solidFill>
            <a:prstDash val="solid"/>
          </a:ln>
        </p:spPr>
      </p:sp>
      <p:sp>
        <p:nvSpPr>
          <p:cNvPr id="45" name="Text 28"/>
          <p:cNvSpPr/>
          <p:nvPr/>
        </p:nvSpPr>
        <p:spPr>
          <a:xfrm>
            <a:off x="5077857" y="32562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9</a:t>
            </a:r>
            <a:endParaRPr lang="en-US" sz="1200" dirty="0"/>
          </a:p>
        </p:txBody>
      </p:sp>
      <p:pic>
        <p:nvPicPr>
          <p:cNvPr id="46" name="Image 15" descr="Clock"/>
          <p:cNvPicPr>
            <a:picLocks noChangeAspect="1"/>
          </p:cNvPicPr>
          <p:nvPr/>
        </p:nvPicPr>
        <p:blipFill>
          <a:blip r:embed="rId12"/>
          <a:srcRect/>
          <a:stretch/>
        </p:blipFill>
        <p:spPr>
          <a:xfrm>
            <a:off x="5052457" y="3548380"/>
            <a:ext cx="279400" cy="279400"/>
          </a:xfrm>
          <a:prstGeom prst="rect">
            <a:avLst/>
          </a:prstGeom>
        </p:spPr>
      </p:pic>
      <p:sp>
        <p:nvSpPr>
          <p:cNvPr id="47" name="Text 29"/>
          <p:cNvSpPr/>
          <p:nvPr/>
        </p:nvSpPr>
        <p:spPr>
          <a:xfrm>
            <a:off x="4492165" y="3891280"/>
            <a:ext cx="1399985"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QR Expiry Check</a:t>
            </a:r>
            <a:endParaRPr lang="en-US" sz="1200" dirty="0"/>
          </a:p>
        </p:txBody>
      </p:sp>
      <p:pic>
        <p:nvPicPr>
          <p:cNvPr id="48" name="Image 16" descr="arrow-right"/>
          <p:cNvPicPr>
            <a:picLocks noChangeAspect="1"/>
          </p:cNvPicPr>
          <p:nvPr/>
        </p:nvPicPr>
        <p:blipFill>
          <a:blip r:embed="rId4"/>
          <a:srcRect/>
          <a:stretch/>
        </p:blipFill>
        <p:spPr>
          <a:xfrm>
            <a:off x="6007100" y="3596641"/>
            <a:ext cx="177800" cy="152400"/>
          </a:xfrm>
          <a:prstGeom prst="rect">
            <a:avLst/>
          </a:prstGeom>
        </p:spPr>
      </p:pic>
      <p:sp>
        <p:nvSpPr>
          <p:cNvPr id="49" name="Shape 30"/>
          <p:cNvSpPr/>
          <p:nvPr/>
        </p:nvSpPr>
        <p:spPr>
          <a:xfrm>
            <a:off x="6238875" y="3041016"/>
            <a:ext cx="1521936" cy="1263650"/>
          </a:xfrm>
          <a:prstGeom prst="roundRect">
            <a:avLst>
              <a:gd name="adj" fmla="val 8794"/>
            </a:avLst>
          </a:prstGeom>
          <a:solidFill>
            <a:srgbClr val="DBEAFE"/>
          </a:solidFill>
          <a:ln w="6350">
            <a:solidFill>
              <a:srgbClr val="93C5FD"/>
            </a:solidFill>
            <a:prstDash val="solid"/>
          </a:ln>
        </p:spPr>
      </p:sp>
      <p:sp>
        <p:nvSpPr>
          <p:cNvPr id="50" name="Text 31"/>
          <p:cNvSpPr/>
          <p:nvPr/>
        </p:nvSpPr>
        <p:spPr>
          <a:xfrm>
            <a:off x="6885543" y="315722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10</a:t>
            </a:r>
            <a:endParaRPr lang="en-US" sz="1200" dirty="0"/>
          </a:p>
        </p:txBody>
      </p:sp>
      <p:pic>
        <p:nvPicPr>
          <p:cNvPr id="51" name="Image 17" descr="Trust"/>
          <p:cNvPicPr>
            <a:picLocks noChangeAspect="1"/>
          </p:cNvPicPr>
          <p:nvPr/>
        </p:nvPicPr>
        <p:blipFill>
          <a:blip r:embed="rId13"/>
          <a:srcRect/>
          <a:stretch/>
        </p:blipFill>
        <p:spPr>
          <a:xfrm>
            <a:off x="6860143" y="3449320"/>
            <a:ext cx="279400" cy="279400"/>
          </a:xfrm>
          <a:prstGeom prst="rect">
            <a:avLst/>
          </a:prstGeom>
        </p:spPr>
      </p:pic>
      <p:sp>
        <p:nvSpPr>
          <p:cNvPr id="52" name="Text 32"/>
          <p:cNvSpPr/>
          <p:nvPr/>
        </p:nvSpPr>
        <p:spPr>
          <a:xfrm>
            <a:off x="6278880" y="3792220"/>
            <a:ext cx="1441926" cy="42164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JWT Authentication</a:t>
            </a:r>
            <a:endParaRPr lang="en-US" sz="1200" dirty="0"/>
          </a:p>
        </p:txBody>
      </p:sp>
      <p:pic>
        <p:nvPicPr>
          <p:cNvPr id="53" name="Image 18" descr="arrow-right"/>
          <p:cNvPicPr>
            <a:picLocks noChangeAspect="1"/>
          </p:cNvPicPr>
          <p:nvPr/>
        </p:nvPicPr>
        <p:blipFill>
          <a:blip r:embed="rId4"/>
          <a:srcRect/>
          <a:stretch/>
        </p:blipFill>
        <p:spPr>
          <a:xfrm>
            <a:off x="7814787" y="3596641"/>
            <a:ext cx="177800" cy="152400"/>
          </a:xfrm>
          <a:prstGeom prst="rect">
            <a:avLst/>
          </a:prstGeom>
        </p:spPr>
      </p:pic>
      <p:sp>
        <p:nvSpPr>
          <p:cNvPr id="54" name="Shape 33"/>
          <p:cNvSpPr/>
          <p:nvPr/>
        </p:nvSpPr>
        <p:spPr>
          <a:xfrm>
            <a:off x="8046562" y="3140075"/>
            <a:ext cx="1521857" cy="1065530"/>
          </a:xfrm>
          <a:prstGeom prst="roundRect">
            <a:avLst>
              <a:gd name="adj" fmla="val 10429"/>
            </a:avLst>
          </a:prstGeom>
          <a:solidFill>
            <a:srgbClr val="FDFEFF"/>
          </a:solidFill>
          <a:ln w="6350">
            <a:solidFill>
              <a:srgbClr val="DCE5F0"/>
            </a:solidFill>
            <a:prstDash val="solid"/>
          </a:ln>
        </p:spPr>
      </p:sp>
      <p:sp>
        <p:nvSpPr>
          <p:cNvPr id="55" name="Text 34"/>
          <p:cNvSpPr/>
          <p:nvPr/>
        </p:nvSpPr>
        <p:spPr>
          <a:xfrm>
            <a:off x="8693150" y="325628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11</a:t>
            </a:r>
            <a:endParaRPr lang="en-US" sz="1200" dirty="0"/>
          </a:p>
        </p:txBody>
      </p:sp>
      <p:pic>
        <p:nvPicPr>
          <p:cNvPr id="56" name="Image 19" descr="Database"/>
          <p:cNvPicPr>
            <a:picLocks noChangeAspect="1"/>
          </p:cNvPicPr>
          <p:nvPr/>
        </p:nvPicPr>
        <p:blipFill>
          <a:blip r:embed="rId14"/>
          <a:srcRect/>
          <a:stretch/>
        </p:blipFill>
        <p:spPr>
          <a:xfrm>
            <a:off x="8667750" y="3548380"/>
            <a:ext cx="279400" cy="279400"/>
          </a:xfrm>
          <a:prstGeom prst="rect">
            <a:avLst/>
          </a:prstGeom>
        </p:spPr>
      </p:pic>
      <p:sp>
        <p:nvSpPr>
          <p:cNvPr id="57" name="Text 35"/>
          <p:cNvSpPr/>
          <p:nvPr/>
        </p:nvSpPr>
        <p:spPr>
          <a:xfrm>
            <a:off x="8049737" y="3891280"/>
            <a:ext cx="1515427"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Stored in MongoDB</a:t>
            </a:r>
            <a:endParaRPr lang="en-US" sz="1200" dirty="0"/>
          </a:p>
        </p:txBody>
      </p:sp>
      <p:pic>
        <p:nvPicPr>
          <p:cNvPr id="58" name="Image 20" descr="arrow-right"/>
          <p:cNvPicPr>
            <a:picLocks noChangeAspect="1"/>
          </p:cNvPicPr>
          <p:nvPr/>
        </p:nvPicPr>
        <p:blipFill>
          <a:blip r:embed="rId4"/>
          <a:srcRect/>
          <a:stretch/>
        </p:blipFill>
        <p:spPr>
          <a:xfrm>
            <a:off x="9622393" y="3596641"/>
            <a:ext cx="177800" cy="152400"/>
          </a:xfrm>
          <a:prstGeom prst="rect">
            <a:avLst/>
          </a:prstGeom>
        </p:spPr>
      </p:pic>
      <p:sp>
        <p:nvSpPr>
          <p:cNvPr id="59" name="Shape 36"/>
          <p:cNvSpPr/>
          <p:nvPr/>
        </p:nvSpPr>
        <p:spPr>
          <a:xfrm>
            <a:off x="9854168" y="3041016"/>
            <a:ext cx="1521857" cy="1263650"/>
          </a:xfrm>
          <a:prstGeom prst="roundRect">
            <a:avLst>
              <a:gd name="adj" fmla="val 8794"/>
            </a:avLst>
          </a:prstGeom>
          <a:solidFill>
            <a:srgbClr val="FDFEFF"/>
          </a:solidFill>
          <a:ln w="6350">
            <a:solidFill>
              <a:srgbClr val="DCE5F0"/>
            </a:solidFill>
            <a:prstDash val="solid"/>
          </a:ln>
        </p:spPr>
      </p:sp>
      <p:sp>
        <p:nvSpPr>
          <p:cNvPr id="60" name="Text 37"/>
          <p:cNvSpPr/>
          <p:nvPr/>
        </p:nvSpPr>
        <p:spPr>
          <a:xfrm>
            <a:off x="10500757" y="315722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2563EB"/>
          </a:solidFill>
          <a:ln/>
        </p:spPr>
        <p:txBody>
          <a:bodyPr wrap="square" lIns="0" tIns="0" rIns="0" bIns="0" rtlCol="0" anchor="ctr">
            <a:normAutofit/>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12</a:t>
            </a:r>
            <a:endParaRPr lang="en-US" sz="1200" dirty="0"/>
          </a:p>
        </p:txBody>
      </p:sp>
      <p:pic>
        <p:nvPicPr>
          <p:cNvPr id="61" name="Image 21" descr="Chart"/>
          <p:cNvPicPr>
            <a:picLocks noChangeAspect="1"/>
          </p:cNvPicPr>
          <p:nvPr/>
        </p:nvPicPr>
        <p:blipFill>
          <a:blip r:embed="rId15"/>
          <a:srcRect/>
          <a:stretch/>
        </p:blipFill>
        <p:spPr>
          <a:xfrm>
            <a:off x="10475357" y="3449320"/>
            <a:ext cx="279400" cy="279400"/>
          </a:xfrm>
          <a:prstGeom prst="rect">
            <a:avLst/>
          </a:prstGeom>
        </p:spPr>
      </p:pic>
      <p:sp>
        <p:nvSpPr>
          <p:cNvPr id="62" name="Text 38"/>
          <p:cNvSpPr/>
          <p:nvPr/>
        </p:nvSpPr>
        <p:spPr>
          <a:xfrm>
            <a:off x="9894174" y="3792220"/>
            <a:ext cx="1441847" cy="42164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B2430"/>
                </a:solidFill>
                <a:latin typeface="IBM Plex Sans" pitchFamily="34" charset="0"/>
                <a:ea typeface="IBM Plex Sans" pitchFamily="34" charset="-122"/>
                <a:cs typeface="IBM Plex Sans" pitchFamily="34" charset="-120"/>
              </a:rPr>
              <a:t>Dashboard Updated</a:t>
            </a:r>
            <a:endParaRPr lang="en-US" sz="1200" dirty="0"/>
          </a:p>
        </p:txBody>
      </p:sp>
      <p:sp>
        <p:nvSpPr>
          <p:cNvPr id="63" name="Text 39"/>
          <p:cNvSpPr/>
          <p:nvPr/>
        </p:nvSpPr>
        <p:spPr>
          <a:xfrm>
            <a:off x="812800" y="4485641"/>
            <a:ext cx="952500" cy="332740"/>
          </a:xfrm>
          <a:prstGeom prst="roundRect">
            <a:avLst>
              <a:gd name="adj" fmla="val 50000"/>
            </a:avLst>
          </a:prstGeom>
          <a:solidFill>
            <a:srgbClr val="1B2430"/>
          </a:solidFill>
          <a:ln/>
        </p:spPr>
        <p:txBody>
          <a:bodyPr wrap="square" lIns="0" tIns="2072" rIns="0" bIns="0" rtlCol="0" anchor="t">
            <a:normAutofit/>
          </a:bodyPr>
          <a:lstStyle/>
          <a:p>
            <a:pPr marL="0" indent="0" algn="ctr">
              <a:lnSpc>
                <a:spcPts val="1820"/>
              </a:lnSpc>
              <a:buNone/>
            </a:pPr>
            <a:r>
              <a:rPr lang="en-US" sz="1300" b="1" dirty="0">
                <a:solidFill>
                  <a:srgbClr val="FDFEFF"/>
                </a:solidFill>
                <a:latin typeface="IBM Plex Sans" pitchFamily="34" charset="0"/>
                <a:ea typeface="IBM Plex Sans" pitchFamily="34" charset="-122"/>
                <a:cs typeface="IBM Plex Sans" pitchFamily="34" charset="-120"/>
              </a:rPr>
              <a:t>Faculty</a:t>
            </a:r>
            <a:endParaRPr lang="en-US" sz="1300" dirty="0"/>
          </a:p>
        </p:txBody>
      </p:sp>
      <p:sp>
        <p:nvSpPr>
          <p:cNvPr id="64" name="Text 40"/>
          <p:cNvSpPr/>
          <p:nvPr/>
        </p:nvSpPr>
        <p:spPr>
          <a:xfrm>
            <a:off x="1854200" y="4485641"/>
            <a:ext cx="663813"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Login</a:t>
            </a:r>
            <a:endParaRPr lang="en-US" sz="1300" dirty="0"/>
          </a:p>
        </p:txBody>
      </p:sp>
      <p:pic>
        <p:nvPicPr>
          <p:cNvPr id="65" name="Image 22" descr="arrow-right"/>
          <p:cNvPicPr>
            <a:picLocks noChangeAspect="1"/>
          </p:cNvPicPr>
          <p:nvPr/>
        </p:nvPicPr>
        <p:blipFill>
          <a:blip r:embed="rId16"/>
          <a:srcRect/>
          <a:stretch/>
        </p:blipFill>
        <p:spPr>
          <a:xfrm>
            <a:off x="2606913" y="4582161"/>
            <a:ext cx="177800" cy="139700"/>
          </a:xfrm>
          <a:prstGeom prst="rect">
            <a:avLst/>
          </a:prstGeom>
        </p:spPr>
      </p:pic>
      <p:sp>
        <p:nvSpPr>
          <p:cNvPr id="66" name="Text 41"/>
          <p:cNvSpPr/>
          <p:nvPr/>
        </p:nvSpPr>
        <p:spPr>
          <a:xfrm>
            <a:off x="2873613" y="4485641"/>
            <a:ext cx="1226899"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Generate QR</a:t>
            </a:r>
            <a:endParaRPr lang="en-US" sz="1300" dirty="0"/>
          </a:p>
        </p:txBody>
      </p:sp>
      <p:pic>
        <p:nvPicPr>
          <p:cNvPr id="67" name="Image 23" descr="arrow-right"/>
          <p:cNvPicPr>
            <a:picLocks noChangeAspect="1"/>
          </p:cNvPicPr>
          <p:nvPr/>
        </p:nvPicPr>
        <p:blipFill>
          <a:blip r:embed="rId16"/>
          <a:srcRect/>
          <a:stretch/>
        </p:blipFill>
        <p:spPr>
          <a:xfrm>
            <a:off x="4189413" y="4582161"/>
            <a:ext cx="177800" cy="139700"/>
          </a:xfrm>
          <a:prstGeom prst="rect">
            <a:avLst/>
          </a:prstGeom>
        </p:spPr>
      </p:pic>
      <p:sp>
        <p:nvSpPr>
          <p:cNvPr id="68" name="Text 42"/>
          <p:cNvSpPr/>
          <p:nvPr/>
        </p:nvSpPr>
        <p:spPr>
          <a:xfrm>
            <a:off x="4456113" y="4485641"/>
            <a:ext cx="1766173"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Monitor Attendance</a:t>
            </a:r>
            <a:endParaRPr lang="en-US" sz="1300" dirty="0"/>
          </a:p>
        </p:txBody>
      </p:sp>
      <p:pic>
        <p:nvPicPr>
          <p:cNvPr id="69" name="Image 24" descr="arrow-right"/>
          <p:cNvPicPr>
            <a:picLocks noChangeAspect="1"/>
          </p:cNvPicPr>
          <p:nvPr/>
        </p:nvPicPr>
        <p:blipFill>
          <a:blip r:embed="rId16"/>
          <a:srcRect/>
          <a:stretch/>
        </p:blipFill>
        <p:spPr>
          <a:xfrm>
            <a:off x="6311186" y="4582161"/>
            <a:ext cx="177800" cy="139700"/>
          </a:xfrm>
          <a:prstGeom prst="rect">
            <a:avLst/>
          </a:prstGeom>
        </p:spPr>
      </p:pic>
      <p:sp>
        <p:nvSpPr>
          <p:cNvPr id="70" name="Text 43"/>
          <p:cNvSpPr/>
          <p:nvPr/>
        </p:nvSpPr>
        <p:spPr>
          <a:xfrm>
            <a:off x="6577886" y="4485641"/>
            <a:ext cx="1664414"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Download Reports</a:t>
            </a:r>
            <a:endParaRPr lang="en-US" sz="1300" dirty="0"/>
          </a:p>
        </p:txBody>
      </p:sp>
      <p:sp>
        <p:nvSpPr>
          <p:cNvPr id="71" name="Text 44"/>
          <p:cNvSpPr/>
          <p:nvPr/>
        </p:nvSpPr>
        <p:spPr>
          <a:xfrm>
            <a:off x="812800" y="4907280"/>
            <a:ext cx="952500" cy="332740"/>
          </a:xfrm>
          <a:prstGeom prst="roundRect">
            <a:avLst>
              <a:gd name="adj" fmla="val 50000"/>
            </a:avLst>
          </a:prstGeom>
          <a:solidFill>
            <a:srgbClr val="2563EB"/>
          </a:solidFill>
          <a:ln/>
        </p:spPr>
        <p:txBody>
          <a:bodyPr wrap="square" lIns="0" tIns="2072" rIns="0" bIns="0" rtlCol="0" anchor="t">
            <a:normAutofit/>
          </a:bodyPr>
          <a:lstStyle/>
          <a:p>
            <a:pPr marL="0" indent="0" algn="ctr">
              <a:lnSpc>
                <a:spcPts val="1820"/>
              </a:lnSpc>
              <a:buNone/>
            </a:pPr>
            <a:r>
              <a:rPr lang="en-US" sz="1300" b="1" dirty="0">
                <a:solidFill>
                  <a:srgbClr val="FDFEFF"/>
                </a:solidFill>
                <a:latin typeface="IBM Plex Sans" pitchFamily="34" charset="0"/>
                <a:ea typeface="IBM Plex Sans" pitchFamily="34" charset="-122"/>
                <a:cs typeface="IBM Plex Sans" pitchFamily="34" charset="-120"/>
              </a:rPr>
              <a:t>Student</a:t>
            </a:r>
            <a:endParaRPr lang="en-US" sz="1300" dirty="0"/>
          </a:p>
        </p:txBody>
      </p:sp>
      <p:sp>
        <p:nvSpPr>
          <p:cNvPr id="72" name="Text 45"/>
          <p:cNvSpPr/>
          <p:nvPr/>
        </p:nvSpPr>
        <p:spPr>
          <a:xfrm>
            <a:off x="1854200" y="4907280"/>
            <a:ext cx="663813"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Login</a:t>
            </a:r>
            <a:endParaRPr lang="en-US" sz="1300" dirty="0"/>
          </a:p>
        </p:txBody>
      </p:sp>
      <p:pic>
        <p:nvPicPr>
          <p:cNvPr id="73" name="Image 25" descr="arrow-right"/>
          <p:cNvPicPr>
            <a:picLocks noChangeAspect="1"/>
          </p:cNvPicPr>
          <p:nvPr/>
        </p:nvPicPr>
        <p:blipFill>
          <a:blip r:embed="rId16"/>
          <a:srcRect/>
          <a:stretch/>
        </p:blipFill>
        <p:spPr>
          <a:xfrm>
            <a:off x="2606913" y="5003800"/>
            <a:ext cx="177800" cy="139700"/>
          </a:xfrm>
          <a:prstGeom prst="rect">
            <a:avLst/>
          </a:prstGeom>
        </p:spPr>
      </p:pic>
      <p:sp>
        <p:nvSpPr>
          <p:cNvPr id="74" name="Text 46"/>
          <p:cNvSpPr/>
          <p:nvPr/>
        </p:nvSpPr>
        <p:spPr>
          <a:xfrm>
            <a:off x="2873613" y="4907280"/>
            <a:ext cx="1173083"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Verify Email</a:t>
            </a:r>
            <a:endParaRPr lang="en-US" sz="1300" dirty="0"/>
          </a:p>
        </p:txBody>
      </p:sp>
      <p:pic>
        <p:nvPicPr>
          <p:cNvPr id="75" name="Image 26" descr="arrow-right"/>
          <p:cNvPicPr>
            <a:picLocks noChangeAspect="1"/>
          </p:cNvPicPr>
          <p:nvPr/>
        </p:nvPicPr>
        <p:blipFill>
          <a:blip r:embed="rId16"/>
          <a:srcRect/>
          <a:stretch/>
        </p:blipFill>
        <p:spPr>
          <a:xfrm>
            <a:off x="4135596" y="5003800"/>
            <a:ext cx="177800" cy="139700"/>
          </a:xfrm>
          <a:prstGeom prst="rect">
            <a:avLst/>
          </a:prstGeom>
        </p:spPr>
      </p:pic>
      <p:sp>
        <p:nvSpPr>
          <p:cNvPr id="76" name="Text 47"/>
          <p:cNvSpPr/>
          <p:nvPr/>
        </p:nvSpPr>
        <p:spPr>
          <a:xfrm>
            <a:off x="4402296" y="4907280"/>
            <a:ext cx="895112"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Scan QR</a:t>
            </a:r>
            <a:endParaRPr lang="en-US" sz="1300" dirty="0"/>
          </a:p>
        </p:txBody>
      </p:sp>
      <p:pic>
        <p:nvPicPr>
          <p:cNvPr id="77" name="Image 27" descr="arrow-right"/>
          <p:cNvPicPr>
            <a:picLocks noChangeAspect="1"/>
          </p:cNvPicPr>
          <p:nvPr/>
        </p:nvPicPr>
        <p:blipFill>
          <a:blip r:embed="rId16"/>
          <a:srcRect/>
          <a:stretch/>
        </p:blipFill>
        <p:spPr>
          <a:xfrm>
            <a:off x="5386308" y="5003800"/>
            <a:ext cx="177800" cy="139700"/>
          </a:xfrm>
          <a:prstGeom prst="rect">
            <a:avLst/>
          </a:prstGeom>
        </p:spPr>
      </p:pic>
      <p:sp>
        <p:nvSpPr>
          <p:cNvPr id="78" name="Text 48"/>
          <p:cNvSpPr/>
          <p:nvPr/>
        </p:nvSpPr>
        <p:spPr>
          <a:xfrm>
            <a:off x="5653008" y="4907280"/>
            <a:ext cx="1608058"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Selfie Verification</a:t>
            </a:r>
            <a:endParaRPr lang="en-US" sz="1300" dirty="0"/>
          </a:p>
        </p:txBody>
      </p:sp>
      <p:pic>
        <p:nvPicPr>
          <p:cNvPr id="79" name="Image 28" descr="arrow-right"/>
          <p:cNvPicPr>
            <a:picLocks noChangeAspect="1"/>
          </p:cNvPicPr>
          <p:nvPr/>
        </p:nvPicPr>
        <p:blipFill>
          <a:blip r:embed="rId16"/>
          <a:srcRect/>
          <a:stretch/>
        </p:blipFill>
        <p:spPr>
          <a:xfrm>
            <a:off x="7349966" y="5003800"/>
            <a:ext cx="177800" cy="139700"/>
          </a:xfrm>
          <a:prstGeom prst="rect">
            <a:avLst/>
          </a:prstGeom>
        </p:spPr>
      </p:pic>
      <p:sp>
        <p:nvSpPr>
          <p:cNvPr id="80" name="Text 49"/>
          <p:cNvSpPr/>
          <p:nvPr/>
        </p:nvSpPr>
        <p:spPr>
          <a:xfrm>
            <a:off x="7616666" y="4907280"/>
            <a:ext cx="1798320"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Attendance Success</a:t>
            </a:r>
            <a:endParaRPr lang="en-US" sz="1300" dirty="0"/>
          </a:p>
        </p:txBody>
      </p:sp>
      <p:sp>
        <p:nvSpPr>
          <p:cNvPr id="81" name="Text 50"/>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5"/>
                </a:solidFill>
                <a:latin typeface="IBM Plex Sans" pitchFamily="34" charset="0"/>
                <a:ea typeface="IBM Plex Sans" pitchFamily="34" charset="-122"/>
                <a:cs typeface="IBM Plex Sans" pitchFamily="34" charset="-120"/>
              </a:rPr>
              <a:t>Smart Attendance System · Secure QR Verification</a:t>
            </a:r>
            <a:endParaRPr lang="en-US" sz="1200" dirty="0"/>
          </a:p>
        </p:txBody>
      </p:sp>
      <p:sp>
        <p:nvSpPr>
          <p:cNvPr id="82" name="Text 51"/>
          <p:cNvSpPr/>
          <p:nvPr/>
        </p:nvSpPr>
        <p:spPr>
          <a:xfrm>
            <a:off x="10312400" y="6238239"/>
            <a:ext cx="1066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5"/>
                </a:solidFill>
                <a:latin typeface="IBM Plex Sans" pitchFamily="34" charset="0"/>
                <a:ea typeface="IBM Plex Sans" pitchFamily="34" charset="-122"/>
                <a:cs typeface="IBM Plex Sans" pitchFamily="34" charset="-120"/>
              </a:rPr>
              <a:t>04 / 07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563EB"/>
                </a:solidFill>
                <a:latin typeface="IBM Plex Sans" pitchFamily="34" charset="0"/>
                <a:ea typeface="IBM Plex Sans" pitchFamily="34" charset="-122"/>
                <a:cs typeface="IBM Plex Sans" pitchFamily="34" charset="-120"/>
              </a:rPr>
              <a:t>UNDER THE HOOD</a:t>
            </a:r>
            <a:endParaRPr lang="en-US" sz="1200" dirty="0"/>
          </a:p>
        </p:txBody>
      </p:sp>
      <p:sp>
        <p:nvSpPr>
          <p:cNvPr id="3" name="Text 1"/>
          <p:cNvSpPr>
            <a:spLocks noGrp="1"/>
          </p:cNvSpPr>
          <p:nvPr>
            <p:ph type="title"/>
          </p:nvPr>
        </p:nvSpPr>
        <p:spPr>
          <a:xfrm>
            <a:off x="812800" y="962661"/>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B2430"/>
                </a:solidFill>
                <a:latin typeface="Rubik" pitchFamily="34" charset="0"/>
                <a:ea typeface="Rubik" pitchFamily="34" charset="-122"/>
                <a:cs typeface="Rubik" pitchFamily="34" charset="-120"/>
              </a:rPr>
              <a:t>Technology &amp; Algorithms</a:t>
            </a:r>
            <a:endParaRPr lang="en-US" sz="3400" dirty="0"/>
          </a:p>
        </p:txBody>
      </p:sp>
      <p:sp>
        <p:nvSpPr>
          <p:cNvPr id="4" name="Shape 2"/>
          <p:cNvSpPr/>
          <p:nvPr/>
        </p:nvSpPr>
        <p:spPr>
          <a:xfrm>
            <a:off x="815975" y="1618614"/>
            <a:ext cx="5580698" cy="3216910"/>
          </a:xfrm>
          <a:prstGeom prst="roundRect">
            <a:avLst>
              <a:gd name="adj" fmla="val 4639"/>
            </a:avLst>
          </a:prstGeom>
          <a:solidFill>
            <a:srgbClr val="FDFEFF"/>
          </a:solidFill>
          <a:ln w="6350">
            <a:solidFill>
              <a:srgbClr val="DCE5F0"/>
            </a:solidFill>
            <a:prstDash val="solid"/>
          </a:ln>
        </p:spPr>
      </p:sp>
      <p:sp>
        <p:nvSpPr>
          <p:cNvPr id="5" name="Text 3"/>
          <p:cNvSpPr/>
          <p:nvPr/>
        </p:nvSpPr>
        <p:spPr>
          <a:xfrm>
            <a:off x="1021080" y="1823721"/>
            <a:ext cx="5325602" cy="223917"/>
          </a:xfrm>
          <a:prstGeom prst="rect">
            <a:avLst/>
          </a:prstGeom>
          <a:noFill/>
          <a:ln/>
        </p:spPr>
        <p:txBody>
          <a:bodyPr wrap="square" lIns="0" tIns="0" rIns="0" bIns="0" rtlCol="0" anchor="t">
            <a:normAutofit/>
          </a:bodyPr>
          <a:lstStyle/>
          <a:p>
            <a:pPr marL="0" indent="0" algn="l">
              <a:lnSpc>
                <a:spcPts val="1570"/>
              </a:lnSpc>
              <a:buNone/>
            </a:pPr>
            <a:r>
              <a:rPr lang="en-US" sz="1121" b="1" kern="0" spc="150" dirty="0">
                <a:solidFill>
                  <a:srgbClr val="2563EB"/>
                </a:solidFill>
                <a:latin typeface="IBM Plex Sans" pitchFamily="34" charset="0"/>
                <a:ea typeface="IBM Plex Sans" pitchFamily="34" charset="-122"/>
                <a:cs typeface="IBM Plex Sans" pitchFamily="34" charset="-120"/>
              </a:rPr>
              <a:t>TECH STACK</a:t>
            </a:r>
            <a:endParaRPr lang="en-US" sz="1121" dirty="0"/>
          </a:p>
        </p:txBody>
      </p:sp>
      <p:sp>
        <p:nvSpPr>
          <p:cNvPr id="6" name="Text 4"/>
          <p:cNvSpPr/>
          <p:nvPr/>
        </p:nvSpPr>
        <p:spPr>
          <a:xfrm>
            <a:off x="1021080" y="2136536"/>
            <a:ext cx="1130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Frontend</a:t>
            </a:r>
            <a:endParaRPr lang="en-US" sz="1300" dirty="0"/>
          </a:p>
        </p:txBody>
      </p:sp>
      <p:sp>
        <p:nvSpPr>
          <p:cNvPr id="7" name="Text 5"/>
          <p:cNvSpPr/>
          <p:nvPr/>
        </p:nvSpPr>
        <p:spPr>
          <a:xfrm>
            <a:off x="2227580" y="2136536"/>
            <a:ext cx="869236"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React.js</a:t>
            </a:r>
            <a:endParaRPr lang="en-US" sz="1300" dirty="0"/>
          </a:p>
        </p:txBody>
      </p:sp>
      <p:sp>
        <p:nvSpPr>
          <p:cNvPr id="8" name="Text 6"/>
          <p:cNvSpPr/>
          <p:nvPr/>
        </p:nvSpPr>
        <p:spPr>
          <a:xfrm>
            <a:off x="3160316" y="2136536"/>
            <a:ext cx="689372"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HTML</a:t>
            </a:r>
            <a:endParaRPr lang="en-US" sz="1300" dirty="0"/>
          </a:p>
        </p:txBody>
      </p:sp>
      <p:sp>
        <p:nvSpPr>
          <p:cNvPr id="9" name="Text 7"/>
          <p:cNvSpPr/>
          <p:nvPr/>
        </p:nvSpPr>
        <p:spPr>
          <a:xfrm>
            <a:off x="3913188" y="2136536"/>
            <a:ext cx="559673"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CSS</a:t>
            </a:r>
            <a:endParaRPr lang="en-US" sz="1300" dirty="0"/>
          </a:p>
        </p:txBody>
      </p:sp>
      <p:sp>
        <p:nvSpPr>
          <p:cNvPr id="10" name="Text 8"/>
          <p:cNvSpPr/>
          <p:nvPr/>
        </p:nvSpPr>
        <p:spPr>
          <a:xfrm>
            <a:off x="4536361" y="2136536"/>
            <a:ext cx="1067753"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JavaScript</a:t>
            </a:r>
            <a:endParaRPr lang="en-US" sz="1300" dirty="0"/>
          </a:p>
        </p:txBody>
      </p:sp>
      <p:sp>
        <p:nvSpPr>
          <p:cNvPr id="11" name="Text 9"/>
          <p:cNvSpPr/>
          <p:nvPr/>
        </p:nvSpPr>
        <p:spPr>
          <a:xfrm>
            <a:off x="2227580" y="2532779"/>
            <a:ext cx="1007745"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Bootstrap</a:t>
            </a:r>
            <a:endParaRPr lang="en-US" sz="1300" dirty="0"/>
          </a:p>
        </p:txBody>
      </p:sp>
      <p:sp>
        <p:nvSpPr>
          <p:cNvPr id="12" name="Text 10"/>
          <p:cNvSpPr/>
          <p:nvPr/>
        </p:nvSpPr>
        <p:spPr>
          <a:xfrm>
            <a:off x="1021080" y="2928938"/>
            <a:ext cx="1130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Backend</a:t>
            </a:r>
            <a:endParaRPr lang="en-US" sz="1300" dirty="0"/>
          </a:p>
        </p:txBody>
      </p:sp>
      <p:sp>
        <p:nvSpPr>
          <p:cNvPr id="13" name="Text 11"/>
          <p:cNvSpPr/>
          <p:nvPr/>
        </p:nvSpPr>
        <p:spPr>
          <a:xfrm>
            <a:off x="2227580" y="2928938"/>
            <a:ext cx="831294"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Node.js</a:t>
            </a:r>
            <a:endParaRPr lang="en-US" sz="1300" dirty="0"/>
          </a:p>
        </p:txBody>
      </p:sp>
      <p:sp>
        <p:nvSpPr>
          <p:cNvPr id="14" name="Text 12"/>
          <p:cNvSpPr/>
          <p:nvPr/>
        </p:nvSpPr>
        <p:spPr>
          <a:xfrm>
            <a:off x="3122374" y="2928938"/>
            <a:ext cx="1037828"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Express.js</a:t>
            </a:r>
            <a:endParaRPr lang="en-US" sz="1300" dirty="0"/>
          </a:p>
        </p:txBody>
      </p:sp>
      <p:sp>
        <p:nvSpPr>
          <p:cNvPr id="15" name="Text 13"/>
          <p:cNvSpPr/>
          <p:nvPr/>
        </p:nvSpPr>
        <p:spPr>
          <a:xfrm>
            <a:off x="1021080" y="3352722"/>
            <a:ext cx="1130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Database</a:t>
            </a:r>
            <a:endParaRPr lang="en-US" sz="1300" dirty="0"/>
          </a:p>
        </p:txBody>
      </p:sp>
      <p:sp>
        <p:nvSpPr>
          <p:cNvPr id="16" name="Text 14"/>
          <p:cNvSpPr/>
          <p:nvPr/>
        </p:nvSpPr>
        <p:spPr>
          <a:xfrm>
            <a:off x="2227580" y="3352722"/>
            <a:ext cx="984091"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MongoDB</a:t>
            </a:r>
            <a:endParaRPr lang="en-US" sz="1300" dirty="0"/>
          </a:p>
        </p:txBody>
      </p:sp>
      <p:sp>
        <p:nvSpPr>
          <p:cNvPr id="17" name="Text 15"/>
          <p:cNvSpPr/>
          <p:nvPr/>
        </p:nvSpPr>
        <p:spPr>
          <a:xfrm>
            <a:off x="1021080" y="3776504"/>
            <a:ext cx="1130300"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Authentication</a:t>
            </a:r>
            <a:endParaRPr lang="en-US" sz="1300" dirty="0"/>
          </a:p>
        </p:txBody>
      </p:sp>
      <p:sp>
        <p:nvSpPr>
          <p:cNvPr id="18" name="Text 16"/>
          <p:cNvSpPr/>
          <p:nvPr/>
        </p:nvSpPr>
        <p:spPr>
          <a:xfrm>
            <a:off x="2227580" y="3776504"/>
            <a:ext cx="597535"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JWT</a:t>
            </a:r>
            <a:endParaRPr lang="en-US" sz="1300" dirty="0"/>
          </a:p>
        </p:txBody>
      </p:sp>
      <p:sp>
        <p:nvSpPr>
          <p:cNvPr id="19" name="Text 17"/>
          <p:cNvSpPr/>
          <p:nvPr/>
        </p:nvSpPr>
        <p:spPr>
          <a:xfrm>
            <a:off x="2888615" y="3776504"/>
            <a:ext cx="750332"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bcrypt</a:t>
            </a:r>
            <a:endParaRPr lang="en-US" sz="1300" dirty="0"/>
          </a:p>
        </p:txBody>
      </p:sp>
      <p:sp>
        <p:nvSpPr>
          <p:cNvPr id="20" name="Text 18"/>
          <p:cNvSpPr/>
          <p:nvPr/>
        </p:nvSpPr>
        <p:spPr>
          <a:xfrm>
            <a:off x="1021080" y="4320859"/>
            <a:ext cx="1130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Cloud</a:t>
            </a:r>
            <a:endParaRPr lang="en-US" sz="1300" dirty="0"/>
          </a:p>
        </p:txBody>
      </p:sp>
      <p:sp>
        <p:nvSpPr>
          <p:cNvPr id="21" name="Text 19"/>
          <p:cNvSpPr/>
          <p:nvPr/>
        </p:nvSpPr>
        <p:spPr>
          <a:xfrm>
            <a:off x="2227580" y="4320859"/>
            <a:ext cx="1416606"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MongoDB Atlas</a:t>
            </a:r>
            <a:endParaRPr lang="en-US" sz="1300" dirty="0"/>
          </a:p>
        </p:txBody>
      </p:sp>
      <p:sp>
        <p:nvSpPr>
          <p:cNvPr id="22" name="Text 20"/>
          <p:cNvSpPr/>
          <p:nvPr/>
        </p:nvSpPr>
        <p:spPr>
          <a:xfrm>
            <a:off x="3707686" y="4320859"/>
            <a:ext cx="806450" cy="332740"/>
          </a:xfrm>
          <a:prstGeom prst="roundRect">
            <a:avLst>
              <a:gd name="adj" fmla="val 50000"/>
            </a:avLst>
          </a:prstGeom>
          <a:solidFill>
            <a:srgbClr val="E8F0FE"/>
          </a:solidFill>
          <a:ln/>
        </p:spPr>
        <p:txBody>
          <a:bodyPr wrap="none" lIns="0" tIns="0" rIns="0" bIns="0" rtlCol="0" anchor="ctr">
            <a:normAutofit/>
          </a:bodyPr>
          <a:lstStyle/>
          <a:p>
            <a:pPr marL="0" indent="0" algn="ctr">
              <a:lnSpc>
                <a:spcPts val="1820"/>
              </a:lnSpc>
              <a:buNone/>
            </a:pPr>
            <a:r>
              <a:rPr lang="en-US" sz="1300" b="1" dirty="0">
                <a:solidFill>
                  <a:srgbClr val="1D4ED8"/>
                </a:solidFill>
                <a:latin typeface="IBM Plex Sans" pitchFamily="34" charset="0"/>
                <a:ea typeface="IBM Plex Sans" pitchFamily="34" charset="-122"/>
                <a:cs typeface="IBM Plex Sans" pitchFamily="34" charset="-120"/>
              </a:rPr>
              <a:t>Render</a:t>
            </a:r>
            <a:endParaRPr lang="en-US" sz="1300" dirty="0"/>
          </a:p>
        </p:txBody>
      </p:sp>
      <p:sp>
        <p:nvSpPr>
          <p:cNvPr id="23" name="Shape 21"/>
          <p:cNvSpPr/>
          <p:nvPr/>
        </p:nvSpPr>
        <p:spPr>
          <a:xfrm>
            <a:off x="6657022" y="1618614"/>
            <a:ext cx="4719003" cy="3216910"/>
          </a:xfrm>
          <a:prstGeom prst="roundRect">
            <a:avLst>
              <a:gd name="adj" fmla="val 4639"/>
            </a:avLst>
          </a:prstGeom>
          <a:solidFill>
            <a:srgbClr val="FDFEFF"/>
          </a:solidFill>
          <a:ln w="6350">
            <a:solidFill>
              <a:srgbClr val="DCE5F0"/>
            </a:solidFill>
            <a:prstDash val="solid"/>
          </a:ln>
        </p:spPr>
      </p:sp>
      <p:sp>
        <p:nvSpPr>
          <p:cNvPr id="24" name="Text 22"/>
          <p:cNvSpPr/>
          <p:nvPr/>
        </p:nvSpPr>
        <p:spPr>
          <a:xfrm>
            <a:off x="6862128" y="1823721"/>
            <a:ext cx="443805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ALGORITHMS · TIME COMPLEXITY</a:t>
            </a:r>
            <a:endParaRPr lang="en-US" sz="1200" dirty="0"/>
          </a:p>
        </p:txBody>
      </p:sp>
      <p:sp>
        <p:nvSpPr>
          <p:cNvPr id="25" name="Shape 23"/>
          <p:cNvSpPr/>
          <p:nvPr/>
        </p:nvSpPr>
        <p:spPr>
          <a:xfrm>
            <a:off x="6862128" y="2151382"/>
            <a:ext cx="4308792" cy="2326640"/>
          </a:xfrm>
          <a:custGeom>
            <a:avLst/>
            <a:gdLst/>
            <a:ahLst/>
            <a:cxnLst/>
            <a:rect l="l" t="t" r="r" b="b"/>
            <a:pathLst>
              <a:path w="4308792" h="2326640">
                <a:moveTo>
                  <a:pt x="4232592" y="0"/>
                </a:moveTo>
                <a:lnTo>
                  <a:pt x="4232592" y="0"/>
                </a:lnTo>
                <a:arcTo wR="76200" hR="76200" stAng="16200000" swAng="5400000"/>
                <a:lnTo>
                  <a:pt x="4308792" y="2250440"/>
                </a:lnTo>
                <a:arcTo wR="76200" hR="76200" stAng="0" swAng="5400000"/>
                <a:lnTo>
                  <a:pt x="76200" y="2326640"/>
                </a:lnTo>
                <a:arcTo wR="76200" hR="76200" stAng="5400000" swAng="5400000"/>
                <a:lnTo>
                  <a:pt x="0" y="2250440"/>
                </a:lnTo>
                <a:arcTo wR="76200" hR="69850" stAng="10800000" swAng="-5400000"/>
                <a:lnTo>
                  <a:pt x="4232592" y="2320290"/>
                </a:lnTo>
                <a:arcTo wR="69850" hR="69850" stAng="5400000" swAng="-5400000"/>
                <a:lnTo>
                  <a:pt x="4302442" y="76200"/>
                </a:lnTo>
                <a:arcTo wR="69850" hR="76200" stAng="0" swAng="-5400000"/>
                <a:close/>
              </a:path>
            </a:pathLst>
          </a:custGeom>
          <a:solidFill>
            <a:srgbClr val="DCE5F0"/>
          </a:solidFill>
          <a:ln/>
        </p:spPr>
      </p:sp>
      <p:sp>
        <p:nvSpPr>
          <p:cNvPr id="26" name="Shape 24"/>
          <p:cNvSpPr/>
          <p:nvPr/>
        </p:nvSpPr>
        <p:spPr>
          <a:xfrm>
            <a:off x="6862128" y="2151382"/>
            <a:ext cx="4308792" cy="2326640"/>
          </a:xfrm>
          <a:custGeom>
            <a:avLst/>
            <a:gdLst/>
            <a:ahLst/>
            <a:cxnLst/>
            <a:rect l="l" t="t" r="r" b="b"/>
            <a:pathLst>
              <a:path w="4308792" h="2326640">
                <a:moveTo>
                  <a:pt x="76200" y="2326640"/>
                </a:moveTo>
                <a:lnTo>
                  <a:pt x="76200" y="2326640"/>
                </a:lnTo>
                <a:arcTo wR="76200" hR="76200" stAng="5400000" swAng="5400000"/>
                <a:lnTo>
                  <a:pt x="0" y="76200"/>
                </a:lnTo>
                <a:arcTo wR="76200" hR="76200" stAng="10800000" swAng="5400000"/>
                <a:lnTo>
                  <a:pt x="4232592" y="0"/>
                </a:lnTo>
                <a:arcTo wR="76200" hR="76200" stAng="16200000" swAng="5400000"/>
                <a:lnTo>
                  <a:pt x="4308792" y="76200"/>
                </a:lnTo>
                <a:arcTo wR="76200" hR="66040" stAng="0" swAng="-5400000"/>
                <a:lnTo>
                  <a:pt x="76200" y="10160"/>
                </a:lnTo>
                <a:arcTo wR="66040" hR="66040" stAng="16200000" swAng="-5400000"/>
                <a:lnTo>
                  <a:pt x="10160" y="2250440"/>
                </a:lnTo>
                <a:arcTo wR="66040" hR="76200" stAng="10800000" swAng="-5400000"/>
                <a:close/>
              </a:path>
            </a:pathLst>
          </a:custGeom>
          <a:solidFill>
            <a:srgbClr val="141413">
              <a:alpha val="22000"/>
            </a:srgbClr>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72288" y="2161542"/>
          <a:ext cx="4293553" cy="2311400"/>
        </p:xfrm>
        <a:graphic>
          <a:graphicData uri="http://schemas.openxmlformats.org/drawingml/2006/table">
            <a:tbl>
              <a:tblPr/>
              <a:tblGrid>
                <a:gridCol w="2919616">
                  <a:extLst>
                    <a:ext uri="{9D8B030D-6E8A-4147-A177-3AD203B41FA5}">
                      <a16:colId xmlns:a16="http://schemas.microsoft.com/office/drawing/2014/main" val="20000"/>
                    </a:ext>
                  </a:extLst>
                </a:gridCol>
                <a:gridCol w="1373937">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Algorithm</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19202A"/>
                      </a:solidFill>
                      <a:prstDash val="solid"/>
                      <a:round/>
                      <a:headEnd type="none" w="med" len="med"/>
                      <a:tailEnd type="none" w="med" len="med"/>
                    </a:lnR>
                    <a:lnT w="0" cap="flat" cmpd="sng" algn="ctr">
                      <a:noFill/>
                    </a:lnT>
                    <a:lnB w="12700" cap="flat" cmpd="sng" algn="ctr">
                      <a:solidFill>
                        <a:srgbClr val="19202A"/>
                      </a:solidFill>
                      <a:prstDash val="solid"/>
                      <a:round/>
                      <a:headEnd type="none" w="med" len="med"/>
                      <a:tailEnd type="none" w="med" len="med"/>
                    </a:lnB>
                    <a:solidFill>
                      <a:srgbClr val="1B2430"/>
                    </a:solidFill>
                  </a:tcPr>
                </a:tc>
                <a:tc>
                  <a:txBody>
                    <a:bodyPr/>
                    <a:lstStyle/>
                    <a:p>
                      <a:pPr marL="0" indent="0" algn="ctr">
                        <a:lnSpc>
                          <a:spcPts val="1680"/>
                        </a:lnSpc>
                        <a:buNone/>
                      </a:pPr>
                      <a:r>
                        <a:rPr lang="en-US" sz="1200" b="1" dirty="0">
                          <a:solidFill>
                            <a:srgbClr val="FDFEFF"/>
                          </a:solidFill>
                          <a:latin typeface="IBM Plex Sans" pitchFamily="34" charset="0"/>
                          <a:ea typeface="IBM Plex Sans" pitchFamily="34" charset="-122"/>
                          <a:cs typeface="IBM Plex Sans" pitchFamily="34" charset="-120"/>
                        </a:rPr>
                        <a:t>Complexity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19202A"/>
                      </a:solidFill>
                      <a:prstDash val="solid"/>
                      <a:round/>
                      <a:headEnd type="none" w="med" len="med"/>
                      <a:tailEnd type="none" w="med" len="med"/>
                    </a:lnL>
                    <a:lnR w="12700" cap="flat" cmpd="sng" algn="ctr">
                      <a:solidFill>
                        <a:srgbClr val="19202A"/>
                      </a:solidFill>
                      <a:prstDash val="solid"/>
                      <a:round/>
                      <a:headEnd type="none" w="med" len="med"/>
                      <a:tailEnd type="none" w="med" len="med"/>
                    </a:lnR>
                    <a:lnT w="0" cap="flat" cmpd="sng" algn="ctr">
                      <a:noFill/>
                    </a:lnT>
                    <a:lnB w="12700" cap="flat" cmpd="sng" algn="ctr">
                      <a:solidFill>
                        <a:srgbClr val="19202A"/>
                      </a:solidFill>
                      <a:prstDash val="solid"/>
                      <a:round/>
                      <a:headEnd type="none" w="med" len="med"/>
                      <a:tailEnd type="none" w="med" len="med"/>
                    </a:lnB>
                    <a:solidFill>
                      <a:srgbClr val="1B2430"/>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430"/>
                          </a:solidFill>
                          <a:latin typeface="IBM Plex Sans" pitchFamily="34" charset="0"/>
                          <a:ea typeface="IBM Plex Sans" pitchFamily="34" charset="-122"/>
                          <a:cs typeface="IBM Plex Sans" pitchFamily="34" charset="-120"/>
                        </a:rPr>
                        <a:t>QR Token Generation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BCB"/>
                      </a:solidFill>
                      <a:prstDash val="solid"/>
                      <a:round/>
                      <a:headEnd type="none" w="med" len="med"/>
                      <a:tailEnd type="none" w="med" len="med"/>
                    </a:lnB>
                    <a:solidFill>
                      <a:srgbClr val="FDFEFF"/>
                    </a:solidFill>
                  </a:tcPr>
                </a:tc>
                <a:tc>
                  <a:txBody>
                    <a:bodyPr/>
                    <a:lstStyle/>
                    <a:p>
                      <a:pPr marL="0" indent="0" algn="ctr">
                        <a:lnSpc>
                          <a:spcPts val="1680"/>
                        </a:lnSpc>
                        <a:buNone/>
                      </a:pPr>
                      <a:r>
                        <a:rPr lang="en-US" sz="1200" dirty="0">
                          <a:solidFill>
                            <a:srgbClr val="2563EB"/>
                          </a:solidFill>
                          <a:latin typeface="IBM Plex Sans" pitchFamily="34" charset="0"/>
                          <a:ea typeface="IBM Plex Sans" pitchFamily="34" charset="-122"/>
                          <a:cs typeface="IBM Plex Sans" pitchFamily="34" charset="-120"/>
                        </a:rPr>
                        <a:t>O(1)</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19202A"/>
                      </a:solidFill>
                      <a:prstDash val="solid"/>
                      <a:round/>
                      <a:headEnd type="none" w="med" len="med"/>
                      <a:tailEnd type="none" w="med" len="med"/>
                    </a:lnT>
                    <a:lnB w="12700" cap="flat" cmpd="sng" algn="ctr">
                      <a:solidFill>
                        <a:srgbClr val="CACBCB"/>
                      </a:solidFill>
                      <a:prstDash val="solid"/>
                      <a:round/>
                      <a:headEnd type="none" w="med" len="med"/>
                      <a:tailEnd type="none" w="med" len="med"/>
                    </a:lnB>
                    <a:solidFill>
                      <a:srgbClr val="FDFE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430"/>
                          </a:solidFill>
                          <a:latin typeface="IBM Plex Sans" pitchFamily="34" charset="0"/>
                          <a:ea typeface="IBM Plex Sans" pitchFamily="34" charset="-122"/>
                          <a:cs typeface="IBM Plex Sans" pitchFamily="34" charset="-120"/>
                        </a:rPr>
                        <a:t>JWT Authentication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4C6C9"/>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5F8FC"/>
                    </a:solidFill>
                  </a:tcPr>
                </a:tc>
                <a:tc>
                  <a:txBody>
                    <a:bodyPr/>
                    <a:lstStyle/>
                    <a:p>
                      <a:pPr marL="0" indent="0" algn="ctr">
                        <a:lnSpc>
                          <a:spcPts val="1680"/>
                        </a:lnSpc>
                        <a:buNone/>
                      </a:pPr>
                      <a:r>
                        <a:rPr lang="en-US" sz="1200" dirty="0">
                          <a:solidFill>
                            <a:srgbClr val="2563EB"/>
                          </a:solidFill>
                          <a:latin typeface="IBM Plex Sans" pitchFamily="34" charset="0"/>
                          <a:ea typeface="IBM Plex Sans" pitchFamily="34" charset="-122"/>
                          <a:cs typeface="IBM Plex Sans" pitchFamily="34" charset="-120"/>
                        </a:rPr>
                        <a:t>O(1)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430"/>
                          </a:solidFill>
                          <a:latin typeface="IBM Plex Sans" pitchFamily="34" charset="0"/>
                          <a:ea typeface="IBM Plex Sans" pitchFamily="34" charset="-122"/>
                          <a:cs typeface="IBM Plex Sans" pitchFamily="34" charset="-120"/>
                        </a:rPr>
                        <a:t>Face Verification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ACBCB"/>
                      </a:solidFill>
                      <a:prstDash val="solid"/>
                      <a:round/>
                      <a:headEnd type="none" w="med" len="med"/>
                      <a:tailEnd type="none" w="med" len="med"/>
                    </a:lnB>
                    <a:solidFill>
                      <a:srgbClr val="FDFEFF"/>
                    </a:solidFill>
                  </a:tcPr>
                </a:tc>
                <a:tc>
                  <a:txBody>
                    <a:bodyPr/>
                    <a:lstStyle/>
                    <a:p>
                      <a:pPr marL="0" indent="0" algn="ctr">
                        <a:lnSpc>
                          <a:spcPts val="1680"/>
                        </a:lnSpc>
                        <a:buNone/>
                      </a:pPr>
                      <a:r>
                        <a:rPr lang="en-US" sz="1200" dirty="0">
                          <a:solidFill>
                            <a:srgbClr val="2563EB"/>
                          </a:solidFill>
                          <a:latin typeface="IBM Plex Sans" pitchFamily="34" charset="0"/>
                          <a:ea typeface="IBM Plex Sans" pitchFamily="34" charset="-122"/>
                          <a:cs typeface="IBM Plex Sans" pitchFamily="34" charset="-120"/>
                        </a:rPr>
                        <a:t>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ACBCB"/>
                      </a:solidFill>
                      <a:prstDash val="solid"/>
                      <a:round/>
                      <a:headEnd type="none" w="med" len="med"/>
                      <a:tailEnd type="none" w="med" len="med"/>
                    </a:lnB>
                    <a:solidFill>
                      <a:srgbClr val="FDFE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B2430"/>
                          </a:solidFill>
                          <a:latin typeface="IBM Plex Sans" pitchFamily="34" charset="0"/>
                          <a:ea typeface="IBM Plex Sans" pitchFamily="34" charset="-122"/>
                          <a:cs typeface="IBM Plex Sans" pitchFamily="34" charset="-120"/>
                        </a:rPr>
                        <a:t>Device Fingerprinting</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4C6C9"/>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5F8FC"/>
                    </a:solidFill>
                  </a:tcPr>
                </a:tc>
                <a:tc>
                  <a:txBody>
                    <a:bodyPr/>
                    <a:lstStyle/>
                    <a:p>
                      <a:pPr marL="0" indent="0" algn="ctr">
                        <a:lnSpc>
                          <a:spcPts val="1680"/>
                        </a:lnSpc>
                        <a:buNone/>
                      </a:pPr>
                      <a:r>
                        <a:rPr lang="en-US" sz="1200" dirty="0">
                          <a:solidFill>
                            <a:srgbClr val="2563EB"/>
                          </a:solidFill>
                          <a:latin typeface="IBM Plex Sans" pitchFamily="34" charset="0"/>
                          <a:ea typeface="IBM Plex Sans" pitchFamily="34" charset="-122"/>
                          <a:cs typeface="IBM Plex Sans" pitchFamily="34" charset="-120"/>
                        </a:rPr>
                        <a:t>O(1)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B2430"/>
                          </a:solidFill>
                          <a:latin typeface="IBM Plex Sans" pitchFamily="34" charset="0"/>
                          <a:ea typeface="IBM Plex Sans" pitchFamily="34" charset="-122"/>
                          <a:cs typeface="IBM Plex Sans" pitchFamily="34" charset="-120"/>
                        </a:rPr>
                        <a:t>GPS Validation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A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ACBCB"/>
                      </a:solidFill>
                      <a:prstDash val="solid"/>
                      <a:round/>
                      <a:headEnd type="none" w="med" len="med"/>
                      <a:tailEnd type="none" w="med" len="med"/>
                    </a:lnB>
                    <a:solidFill>
                      <a:srgbClr val="FDFEFF"/>
                    </a:solidFill>
                  </a:tcPr>
                </a:tc>
                <a:tc>
                  <a:txBody>
                    <a:bodyPr/>
                    <a:lstStyle/>
                    <a:p>
                      <a:pPr marL="0" indent="0" algn="ctr">
                        <a:lnSpc>
                          <a:spcPts val="1680"/>
                        </a:lnSpc>
                        <a:buNone/>
                      </a:pPr>
                      <a:r>
                        <a:rPr lang="en-US" sz="1200" dirty="0">
                          <a:solidFill>
                            <a:srgbClr val="2563EB"/>
                          </a:solidFill>
                          <a:latin typeface="IBM Plex Sans" pitchFamily="34" charset="0"/>
                          <a:ea typeface="IBM Plex Sans" pitchFamily="34" charset="-122"/>
                          <a:cs typeface="IBM Plex Sans" pitchFamily="34" charset="-120"/>
                        </a:rPr>
                        <a:t>O(1)</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ACBCB"/>
                      </a:solidFill>
                      <a:prstDash val="solid"/>
                      <a:round/>
                      <a:headEnd type="none" w="med" len="med"/>
                      <a:tailEnd type="none" w="med" len="med"/>
                    </a:lnB>
                    <a:solidFill>
                      <a:srgbClr val="FDFE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B2430"/>
                          </a:solidFill>
                          <a:latin typeface="IBM Plex Sans" pitchFamily="34" charset="0"/>
                          <a:ea typeface="IBM Plex Sans" pitchFamily="34" charset="-122"/>
                          <a:cs typeface="IBM Plex Sans" pitchFamily="34" charset="-120"/>
                        </a:rPr>
                        <a:t>Attendance Report Generation</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4C6C9"/>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5F8FC"/>
                    </a:solidFill>
                  </a:tcPr>
                </a:tc>
                <a:tc>
                  <a:txBody>
                    <a:bodyPr/>
                    <a:lstStyle/>
                    <a:p>
                      <a:pPr marL="0" indent="0" algn="ctr">
                        <a:lnSpc>
                          <a:spcPts val="1680"/>
                        </a:lnSpc>
                        <a:buNone/>
                      </a:pPr>
                      <a:r>
                        <a:rPr lang="en-US" sz="1200" dirty="0">
                          <a:solidFill>
                            <a:srgbClr val="2563EB"/>
                          </a:solidFill>
                          <a:latin typeface="IBM Plex Sans" pitchFamily="34" charset="0"/>
                          <a:ea typeface="IBM Plex Sans" pitchFamily="34" charset="-122"/>
                          <a:cs typeface="IBM Plex Sans" pitchFamily="34" charset="-120"/>
                        </a:rPr>
                        <a:t>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bl>
          </a:graphicData>
        </a:graphic>
      </p:graphicFrame>
      <p:sp>
        <p:nvSpPr>
          <p:cNvPr id="28" name="Text 25"/>
          <p:cNvSpPr/>
          <p:nvPr/>
        </p:nvSpPr>
        <p:spPr>
          <a:xfrm>
            <a:off x="812800" y="49657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WHY THESE TECHNOLOGIES</a:t>
            </a:r>
            <a:endParaRPr lang="en-US" sz="1200" dirty="0"/>
          </a:p>
        </p:txBody>
      </p:sp>
      <p:sp>
        <p:nvSpPr>
          <p:cNvPr id="29" name="Shape 26"/>
          <p:cNvSpPr/>
          <p:nvPr/>
        </p:nvSpPr>
        <p:spPr>
          <a:xfrm>
            <a:off x="812800" y="5242561"/>
            <a:ext cx="2032000" cy="599440"/>
          </a:xfrm>
          <a:prstGeom prst="roundRect">
            <a:avLst>
              <a:gd name="adj" fmla="val 19068"/>
            </a:avLst>
          </a:prstGeom>
          <a:solidFill>
            <a:srgbClr val="1B2430"/>
          </a:solidFill>
          <a:ln/>
        </p:spPr>
      </p:sp>
      <p:pic>
        <p:nvPicPr>
          <p:cNvPr id="30" name="Image 0" descr="Lightning"/>
          <p:cNvPicPr>
            <a:picLocks noChangeAspect="1"/>
          </p:cNvPicPr>
          <p:nvPr/>
        </p:nvPicPr>
        <p:blipFill>
          <a:blip r:embed="rId3"/>
          <a:srcRect l="-706" r="-706"/>
          <a:stretch/>
        </p:blipFill>
        <p:spPr>
          <a:xfrm>
            <a:off x="927100" y="5415282"/>
            <a:ext cx="199628" cy="254000"/>
          </a:xfrm>
          <a:prstGeom prst="rect">
            <a:avLst/>
          </a:prstGeom>
        </p:spPr>
      </p:pic>
      <p:sp>
        <p:nvSpPr>
          <p:cNvPr id="31" name="Text 27"/>
          <p:cNvSpPr/>
          <p:nvPr/>
        </p:nvSpPr>
        <p:spPr>
          <a:xfrm>
            <a:off x="1202928" y="5344161"/>
            <a:ext cx="1578372"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DFEFF"/>
                </a:solidFill>
                <a:latin typeface="IBM Plex Sans" pitchFamily="34" charset="0"/>
                <a:ea typeface="IBM Plex Sans" pitchFamily="34" charset="-122"/>
                <a:cs typeface="IBM Plex Sans" pitchFamily="34" charset="-120"/>
              </a:rPr>
              <a:t>Fast full-stack development</a:t>
            </a:r>
            <a:endParaRPr lang="en-US" sz="1200" dirty="0"/>
          </a:p>
        </p:txBody>
      </p:sp>
      <p:sp>
        <p:nvSpPr>
          <p:cNvPr id="32" name="Shape 28"/>
          <p:cNvSpPr/>
          <p:nvPr/>
        </p:nvSpPr>
        <p:spPr>
          <a:xfrm>
            <a:off x="2946400" y="5242561"/>
            <a:ext cx="2032000" cy="599440"/>
          </a:xfrm>
          <a:prstGeom prst="roundRect">
            <a:avLst>
              <a:gd name="adj" fmla="val 19068"/>
            </a:avLst>
          </a:prstGeom>
          <a:solidFill>
            <a:srgbClr val="1B2430"/>
          </a:solidFill>
          <a:ln/>
        </p:spPr>
      </p:sp>
      <p:pic>
        <p:nvPicPr>
          <p:cNvPr id="33" name="Image 1" descr="Database"/>
          <p:cNvPicPr>
            <a:picLocks noChangeAspect="1"/>
          </p:cNvPicPr>
          <p:nvPr/>
        </p:nvPicPr>
        <p:blipFill>
          <a:blip r:embed="rId4"/>
          <a:srcRect l="-766" r="-766"/>
          <a:stretch/>
        </p:blipFill>
        <p:spPr>
          <a:xfrm>
            <a:off x="3060700" y="5415282"/>
            <a:ext cx="199866" cy="254000"/>
          </a:xfrm>
          <a:prstGeom prst="rect">
            <a:avLst/>
          </a:prstGeom>
        </p:spPr>
      </p:pic>
      <p:sp>
        <p:nvSpPr>
          <p:cNvPr id="34" name="Text 29"/>
          <p:cNvSpPr/>
          <p:nvPr/>
        </p:nvSpPr>
        <p:spPr>
          <a:xfrm>
            <a:off x="3336766" y="5344161"/>
            <a:ext cx="157813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DFEFF"/>
                </a:solidFill>
                <a:latin typeface="IBM Plex Sans" pitchFamily="34" charset="0"/>
                <a:ea typeface="IBM Plex Sans" pitchFamily="34" charset="-122"/>
                <a:cs typeface="IBM Plex Sans" pitchFamily="34" charset="-120"/>
              </a:rPr>
              <a:t>Flexible attendance records</a:t>
            </a:r>
            <a:endParaRPr lang="en-US" sz="1200" dirty="0"/>
          </a:p>
        </p:txBody>
      </p:sp>
      <p:sp>
        <p:nvSpPr>
          <p:cNvPr id="35" name="Shape 30"/>
          <p:cNvSpPr/>
          <p:nvPr/>
        </p:nvSpPr>
        <p:spPr>
          <a:xfrm>
            <a:off x="5080000" y="5242561"/>
            <a:ext cx="2032000" cy="599440"/>
          </a:xfrm>
          <a:prstGeom prst="roundRect">
            <a:avLst>
              <a:gd name="adj" fmla="val 19068"/>
            </a:avLst>
          </a:prstGeom>
          <a:solidFill>
            <a:srgbClr val="1B2430"/>
          </a:solidFill>
          <a:ln/>
        </p:spPr>
      </p:sp>
      <p:pic>
        <p:nvPicPr>
          <p:cNvPr id="36" name="Image 2" descr="Key"/>
          <p:cNvPicPr>
            <a:picLocks noChangeAspect="1"/>
          </p:cNvPicPr>
          <p:nvPr/>
        </p:nvPicPr>
        <p:blipFill>
          <a:blip r:embed="rId5"/>
          <a:srcRect l="-508" r="-508"/>
          <a:stretch/>
        </p:blipFill>
        <p:spPr>
          <a:xfrm>
            <a:off x="5194300" y="5415282"/>
            <a:ext cx="205264" cy="254000"/>
          </a:xfrm>
          <a:prstGeom prst="rect">
            <a:avLst/>
          </a:prstGeom>
        </p:spPr>
      </p:pic>
      <p:sp>
        <p:nvSpPr>
          <p:cNvPr id="37" name="Text 31"/>
          <p:cNvSpPr/>
          <p:nvPr/>
        </p:nvSpPr>
        <p:spPr>
          <a:xfrm>
            <a:off x="5475764" y="5344161"/>
            <a:ext cx="1572736"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DFEFF"/>
                </a:solidFill>
                <a:latin typeface="IBM Plex Sans" pitchFamily="34" charset="0"/>
                <a:ea typeface="IBM Plex Sans" pitchFamily="34" charset="-122"/>
                <a:cs typeface="IBM Plex Sans" pitchFamily="34" charset="-120"/>
              </a:rPr>
              <a:t>Secure JWT authentication</a:t>
            </a:r>
            <a:endParaRPr lang="en-US" sz="1200" dirty="0"/>
          </a:p>
        </p:txBody>
      </p:sp>
      <p:sp>
        <p:nvSpPr>
          <p:cNvPr id="38" name="Shape 32"/>
          <p:cNvSpPr/>
          <p:nvPr/>
        </p:nvSpPr>
        <p:spPr>
          <a:xfrm>
            <a:off x="7213600" y="5242561"/>
            <a:ext cx="2032000" cy="599440"/>
          </a:xfrm>
          <a:prstGeom prst="roundRect">
            <a:avLst>
              <a:gd name="adj" fmla="val 19068"/>
            </a:avLst>
          </a:prstGeom>
          <a:solidFill>
            <a:srgbClr val="1B2430"/>
          </a:solidFill>
          <a:ln/>
        </p:spPr>
      </p:sp>
      <p:pic>
        <p:nvPicPr>
          <p:cNvPr id="39" name="Image 3" descr="Lock"/>
          <p:cNvPicPr>
            <a:picLocks noChangeAspect="1"/>
          </p:cNvPicPr>
          <p:nvPr/>
        </p:nvPicPr>
        <p:blipFill>
          <a:blip r:embed="rId6"/>
          <a:srcRect t="-61" b="-61"/>
          <a:stretch/>
        </p:blipFill>
        <p:spPr>
          <a:xfrm>
            <a:off x="7327900" y="5415282"/>
            <a:ext cx="196612" cy="254000"/>
          </a:xfrm>
          <a:prstGeom prst="rect">
            <a:avLst/>
          </a:prstGeom>
        </p:spPr>
      </p:pic>
      <p:sp>
        <p:nvSpPr>
          <p:cNvPr id="40" name="Text 33"/>
          <p:cNvSpPr/>
          <p:nvPr/>
        </p:nvSpPr>
        <p:spPr>
          <a:xfrm>
            <a:off x="7600712" y="5344161"/>
            <a:ext cx="1581388"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DFEFF"/>
                </a:solidFill>
                <a:latin typeface="IBM Plex Sans" pitchFamily="34" charset="0"/>
                <a:ea typeface="IBM Plex Sans" pitchFamily="34" charset="-122"/>
                <a:cs typeface="IBM Plex Sans" pitchFamily="34" charset="-120"/>
              </a:rPr>
              <a:t>bcrypt-protected passwords</a:t>
            </a:r>
            <a:endParaRPr lang="en-US" sz="1200" dirty="0"/>
          </a:p>
        </p:txBody>
      </p:sp>
      <p:sp>
        <p:nvSpPr>
          <p:cNvPr id="41" name="Shape 34"/>
          <p:cNvSpPr/>
          <p:nvPr/>
        </p:nvSpPr>
        <p:spPr>
          <a:xfrm>
            <a:off x="9347200" y="5242561"/>
            <a:ext cx="2032000" cy="599440"/>
          </a:xfrm>
          <a:prstGeom prst="roundRect">
            <a:avLst>
              <a:gd name="adj" fmla="val 19068"/>
            </a:avLst>
          </a:prstGeom>
          <a:solidFill>
            <a:srgbClr val="1B2430"/>
          </a:solidFill>
          <a:ln/>
        </p:spPr>
      </p:sp>
      <p:pic>
        <p:nvPicPr>
          <p:cNvPr id="42" name="Image 4" descr="Code"/>
          <p:cNvPicPr>
            <a:picLocks noChangeAspect="1"/>
          </p:cNvPicPr>
          <p:nvPr/>
        </p:nvPicPr>
        <p:blipFill>
          <a:blip r:embed="rId7"/>
          <a:srcRect/>
          <a:stretch/>
        </p:blipFill>
        <p:spPr>
          <a:xfrm>
            <a:off x="9461500" y="5415282"/>
            <a:ext cx="254000" cy="254000"/>
          </a:xfrm>
          <a:prstGeom prst="rect">
            <a:avLst/>
          </a:prstGeom>
        </p:spPr>
      </p:pic>
      <p:sp>
        <p:nvSpPr>
          <p:cNvPr id="43" name="Text 35"/>
          <p:cNvSpPr/>
          <p:nvPr/>
        </p:nvSpPr>
        <p:spPr>
          <a:xfrm>
            <a:off x="9791700" y="5443221"/>
            <a:ext cx="158750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DFEFF"/>
                </a:solidFill>
                <a:latin typeface="IBM Plex Sans" pitchFamily="34" charset="0"/>
                <a:ea typeface="IBM Plex Sans" pitchFamily="34" charset="-122"/>
                <a:cs typeface="IBM Plex Sans" pitchFamily="34" charset="-120"/>
              </a:rPr>
              <a:t>Responsive React UI</a:t>
            </a:r>
            <a:endParaRPr lang="en-US" sz="1200" dirty="0"/>
          </a:p>
        </p:txBody>
      </p:sp>
      <p:sp>
        <p:nvSpPr>
          <p:cNvPr id="44" name="Text 36"/>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5"/>
                </a:solidFill>
                <a:latin typeface="IBM Plex Sans" pitchFamily="34" charset="0"/>
                <a:ea typeface="IBM Plex Sans" pitchFamily="34" charset="-122"/>
                <a:cs typeface="IBM Plex Sans" pitchFamily="34" charset="-120"/>
              </a:rPr>
              <a:t>Smart Attendance System · Secure QR Verification</a:t>
            </a:r>
            <a:endParaRPr lang="en-US" sz="1200" dirty="0"/>
          </a:p>
        </p:txBody>
      </p:sp>
      <p:sp>
        <p:nvSpPr>
          <p:cNvPr id="45" name="Text 37"/>
          <p:cNvSpPr/>
          <p:nvPr/>
        </p:nvSpPr>
        <p:spPr>
          <a:xfrm>
            <a:off x="10312400" y="6238239"/>
            <a:ext cx="1066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5"/>
                </a:solidFill>
                <a:latin typeface="IBM Plex Sans" pitchFamily="34" charset="0"/>
                <a:ea typeface="IBM Plex Sans" pitchFamily="34" charset="-122"/>
                <a:cs typeface="IBM Plex Sans" pitchFamily="34" charset="-120"/>
              </a:rPr>
              <a:t>05 / 07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812800" y="711200"/>
            <a:ext cx="3302789"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563EB"/>
                </a:solidFill>
                <a:latin typeface="IBM Plex Sans" pitchFamily="34" charset="0"/>
                <a:ea typeface="IBM Plex Sans" pitchFamily="34" charset="-122"/>
                <a:cs typeface="IBM Plex Sans" pitchFamily="34" charset="-120"/>
              </a:rPr>
              <a:t>SEE IT WORKING</a:t>
            </a:r>
            <a:endParaRPr lang="en-US" sz="1200" dirty="0"/>
          </a:p>
        </p:txBody>
      </p:sp>
      <p:sp>
        <p:nvSpPr>
          <p:cNvPr id="3" name="Text 1"/>
          <p:cNvSpPr>
            <a:spLocks noGrp="1"/>
          </p:cNvSpPr>
          <p:nvPr>
            <p:ph type="title"/>
          </p:nvPr>
        </p:nvSpPr>
        <p:spPr>
          <a:xfrm>
            <a:off x="812800" y="962661"/>
            <a:ext cx="384791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B2430"/>
                </a:solidFill>
                <a:latin typeface="Rubik" pitchFamily="34" charset="0"/>
                <a:ea typeface="Rubik" pitchFamily="34" charset="-122"/>
                <a:cs typeface="Rubik" pitchFamily="34" charset="-120"/>
              </a:rPr>
              <a:t>Demo &amp; Impact</a:t>
            </a:r>
            <a:endParaRPr lang="en-US" sz="3400" dirty="0"/>
          </a:p>
        </p:txBody>
      </p:sp>
      <p:sp>
        <p:nvSpPr>
          <p:cNvPr id="4" name="Text 2"/>
          <p:cNvSpPr/>
          <p:nvPr/>
        </p:nvSpPr>
        <p:spPr>
          <a:xfrm>
            <a:off x="7228110" y="1224282"/>
            <a:ext cx="415109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B5563"/>
                </a:solidFill>
                <a:latin typeface="IBM Plex Sans" pitchFamily="34" charset="0"/>
                <a:ea typeface="IBM Plex Sans" pitchFamily="34" charset="-122"/>
                <a:cs typeface="IBM Plex Sans" pitchFamily="34" charset="-120"/>
              </a:rPr>
              <a:t>Live screens from the running app</a:t>
            </a:r>
            <a:endParaRPr lang="en-US" sz="1200" dirty="0"/>
          </a:p>
        </p:txBody>
      </p:sp>
      <p:sp>
        <p:nvSpPr>
          <p:cNvPr id="5" name="Shape 3"/>
          <p:cNvSpPr/>
          <p:nvPr/>
        </p:nvSpPr>
        <p:spPr>
          <a:xfrm>
            <a:off x="815975" y="1618614"/>
            <a:ext cx="1670050" cy="1784350"/>
          </a:xfrm>
          <a:prstGeom prst="roundRect">
            <a:avLst>
              <a:gd name="adj" fmla="val 5894"/>
            </a:avLst>
          </a:prstGeom>
          <a:solidFill>
            <a:srgbClr val="FDFEFF"/>
          </a:solidFill>
          <a:ln w="6350">
            <a:solidFill>
              <a:srgbClr val="DCE5F0"/>
            </a:solidFill>
            <a:prstDash val="solid"/>
          </a:ln>
        </p:spPr>
      </p:sp>
      <p:sp>
        <p:nvSpPr>
          <p:cNvPr id="6" name="Shape 4"/>
          <p:cNvSpPr/>
          <p:nvPr/>
        </p:nvSpPr>
        <p:spPr>
          <a:xfrm>
            <a:off x="894080" y="1696721"/>
            <a:ext cx="1513840" cy="1351280"/>
          </a:xfrm>
          <a:prstGeom prst="roundRect">
            <a:avLst>
              <a:gd name="adj" fmla="val 4699"/>
            </a:avLst>
          </a:prstGeom>
          <a:solidFill>
            <a:srgbClr val="E8F0FE"/>
          </a:solidFill>
          <a:ln/>
        </p:spPr>
      </p:sp>
      <p:pic>
        <p:nvPicPr>
          <p:cNvPr id="7" name="Image 0" descr="Lock"/>
          <p:cNvPicPr>
            <a:picLocks noChangeAspect="1"/>
          </p:cNvPicPr>
          <p:nvPr/>
        </p:nvPicPr>
        <p:blipFill>
          <a:blip r:embed="rId3"/>
          <a:srcRect/>
          <a:stretch/>
        </p:blipFill>
        <p:spPr>
          <a:xfrm>
            <a:off x="1536700" y="1965961"/>
            <a:ext cx="228600" cy="228600"/>
          </a:xfrm>
          <a:prstGeom prst="rect">
            <a:avLst/>
          </a:prstGeom>
        </p:spPr>
      </p:pic>
      <p:sp>
        <p:nvSpPr>
          <p:cNvPr id="8" name="Shape 5"/>
          <p:cNvSpPr/>
          <p:nvPr/>
        </p:nvSpPr>
        <p:spPr>
          <a:xfrm>
            <a:off x="1206500" y="2258061"/>
            <a:ext cx="889000" cy="114300"/>
          </a:xfrm>
          <a:prstGeom prst="roundRect">
            <a:avLst>
              <a:gd name="adj" fmla="val 33333"/>
            </a:avLst>
          </a:prstGeom>
          <a:solidFill>
            <a:srgbClr val="FDFEFF"/>
          </a:solidFill>
          <a:ln/>
        </p:spPr>
      </p:sp>
      <p:sp>
        <p:nvSpPr>
          <p:cNvPr id="9" name="Shape 6"/>
          <p:cNvSpPr/>
          <p:nvPr/>
        </p:nvSpPr>
        <p:spPr>
          <a:xfrm>
            <a:off x="1206500" y="2435861"/>
            <a:ext cx="889000" cy="114300"/>
          </a:xfrm>
          <a:prstGeom prst="roundRect">
            <a:avLst>
              <a:gd name="adj" fmla="val 33333"/>
            </a:avLst>
          </a:prstGeom>
          <a:solidFill>
            <a:srgbClr val="FDFEFF"/>
          </a:solidFill>
          <a:ln/>
        </p:spPr>
      </p:sp>
      <p:sp>
        <p:nvSpPr>
          <p:cNvPr id="10" name="Shape 7"/>
          <p:cNvSpPr/>
          <p:nvPr/>
        </p:nvSpPr>
        <p:spPr>
          <a:xfrm>
            <a:off x="1206500" y="2613661"/>
            <a:ext cx="889000" cy="165100"/>
          </a:xfrm>
          <a:prstGeom prst="roundRect">
            <a:avLst>
              <a:gd name="adj" fmla="val 30769"/>
            </a:avLst>
          </a:prstGeom>
          <a:solidFill>
            <a:srgbClr val="2563EB"/>
          </a:solidFill>
          <a:ln/>
        </p:spPr>
      </p:sp>
      <p:sp>
        <p:nvSpPr>
          <p:cNvPr id="11" name="Text 8"/>
          <p:cNvSpPr/>
          <p:nvPr/>
        </p:nvSpPr>
        <p:spPr>
          <a:xfrm>
            <a:off x="868680" y="3111500"/>
            <a:ext cx="1564640" cy="238760"/>
          </a:xfrm>
          <a:prstGeom prst="rect">
            <a:avLst/>
          </a:prstGeom>
          <a:noFill/>
          <a:ln/>
        </p:spPr>
        <p:txBody>
          <a:bodyPr wrap="square" lIns="0" tIns="0" rIns="0" bIns="0" rtlCol="0" anchor="t"/>
          <a:lstStyle/>
          <a:p>
            <a:pPr marL="0" indent="0" algn="ctr">
              <a:lnSpc>
                <a:spcPts val="1680"/>
              </a:lnSpc>
              <a:buNone/>
            </a:pPr>
            <a:r>
              <a:rPr lang="en-US" sz="1050" b="1" dirty="0">
                <a:solidFill>
                  <a:srgbClr val="1B2430"/>
                </a:solidFill>
                <a:latin typeface="IBM Plex Sans" pitchFamily="34" charset="0"/>
                <a:ea typeface="IBM Plex Sans" pitchFamily="34" charset="-122"/>
                <a:cs typeface="IBM Plex Sans" pitchFamily="34" charset="-120"/>
              </a:rPr>
              <a:t>Login Page</a:t>
            </a:r>
            <a:endParaRPr lang="en-US" sz="1200" dirty="0"/>
          </a:p>
        </p:txBody>
      </p:sp>
      <p:sp>
        <p:nvSpPr>
          <p:cNvPr id="12" name="Shape 9"/>
          <p:cNvSpPr/>
          <p:nvPr/>
        </p:nvSpPr>
        <p:spPr>
          <a:xfrm>
            <a:off x="2593975" y="1618614"/>
            <a:ext cx="1670050" cy="1784350"/>
          </a:xfrm>
          <a:prstGeom prst="roundRect">
            <a:avLst>
              <a:gd name="adj" fmla="val 5894"/>
            </a:avLst>
          </a:prstGeom>
          <a:solidFill>
            <a:srgbClr val="FDFEFF"/>
          </a:solidFill>
          <a:ln w="6350">
            <a:solidFill>
              <a:srgbClr val="DCE5F0"/>
            </a:solidFill>
            <a:prstDash val="solid"/>
          </a:ln>
        </p:spPr>
      </p:sp>
      <p:sp>
        <p:nvSpPr>
          <p:cNvPr id="13" name="Shape 10"/>
          <p:cNvSpPr/>
          <p:nvPr/>
        </p:nvSpPr>
        <p:spPr>
          <a:xfrm>
            <a:off x="2672080" y="1696721"/>
            <a:ext cx="1513840" cy="1351280"/>
          </a:xfrm>
          <a:prstGeom prst="roundRect">
            <a:avLst>
              <a:gd name="adj" fmla="val 4699"/>
            </a:avLst>
          </a:prstGeom>
          <a:solidFill>
            <a:srgbClr val="0B1224"/>
          </a:solidFill>
          <a:ln/>
        </p:spPr>
      </p:sp>
      <p:sp>
        <p:nvSpPr>
          <p:cNvPr id="20" name="Text 17"/>
          <p:cNvSpPr/>
          <p:nvPr/>
        </p:nvSpPr>
        <p:spPr>
          <a:xfrm>
            <a:off x="2646680" y="3111500"/>
            <a:ext cx="1564640" cy="238760"/>
          </a:xfrm>
          <a:prstGeom prst="rect">
            <a:avLst/>
          </a:prstGeom>
          <a:noFill/>
          <a:ln/>
        </p:spPr>
        <p:txBody>
          <a:bodyPr wrap="square" lIns="0" tIns="0" rIns="0" bIns="0" rtlCol="0" anchor="t"/>
          <a:lstStyle/>
          <a:p>
            <a:pPr marL="0" indent="0" algn="ctr">
              <a:lnSpc>
                <a:spcPts val="1680"/>
              </a:lnSpc>
              <a:buNone/>
            </a:pPr>
            <a:r>
              <a:rPr lang="en-US" sz="1050" b="1" dirty="0">
                <a:solidFill>
                  <a:srgbClr val="1B2430"/>
                </a:solidFill>
                <a:latin typeface="IBM Plex Sans" pitchFamily="34" charset="0"/>
                <a:ea typeface="IBM Plex Sans" pitchFamily="34" charset="-122"/>
                <a:cs typeface="IBM Plex Sans" pitchFamily="34" charset="-120"/>
              </a:rPr>
              <a:t>Student Dashboard</a:t>
            </a:r>
            <a:endParaRPr lang="en-US" sz="1200" dirty="0"/>
          </a:p>
        </p:txBody>
      </p:sp>
      <p:sp>
        <p:nvSpPr>
          <p:cNvPr id="21" name="Shape 18"/>
          <p:cNvSpPr/>
          <p:nvPr/>
        </p:nvSpPr>
        <p:spPr>
          <a:xfrm>
            <a:off x="4371975" y="1618614"/>
            <a:ext cx="1670050" cy="1784350"/>
          </a:xfrm>
          <a:prstGeom prst="roundRect">
            <a:avLst>
              <a:gd name="adj" fmla="val 5894"/>
            </a:avLst>
          </a:prstGeom>
          <a:solidFill>
            <a:srgbClr val="FDFEFF"/>
          </a:solidFill>
          <a:ln w="6350">
            <a:solidFill>
              <a:srgbClr val="DCE5F0"/>
            </a:solidFill>
            <a:prstDash val="solid"/>
          </a:ln>
        </p:spPr>
      </p:sp>
      <p:sp>
        <p:nvSpPr>
          <p:cNvPr id="22" name="Shape 19"/>
          <p:cNvSpPr/>
          <p:nvPr/>
        </p:nvSpPr>
        <p:spPr>
          <a:xfrm>
            <a:off x="4450080" y="1696721"/>
            <a:ext cx="1513840" cy="1351280"/>
          </a:xfrm>
          <a:prstGeom prst="roundRect">
            <a:avLst>
              <a:gd name="adj" fmla="val 4699"/>
            </a:avLst>
          </a:prstGeom>
          <a:solidFill>
            <a:srgbClr val="0B1224"/>
          </a:solidFill>
          <a:ln/>
        </p:spPr>
      </p:sp>
      <p:sp>
        <p:nvSpPr>
          <p:cNvPr id="29" name="Text 26"/>
          <p:cNvSpPr/>
          <p:nvPr/>
        </p:nvSpPr>
        <p:spPr>
          <a:xfrm>
            <a:off x="4424680" y="3111500"/>
            <a:ext cx="1564640" cy="238760"/>
          </a:xfrm>
          <a:prstGeom prst="rect">
            <a:avLst/>
          </a:prstGeom>
          <a:noFill/>
          <a:ln/>
        </p:spPr>
        <p:txBody>
          <a:bodyPr wrap="square" lIns="0" tIns="0" rIns="0" bIns="0" rtlCol="0" anchor="t"/>
          <a:lstStyle/>
          <a:p>
            <a:pPr marL="0" indent="0" algn="ctr">
              <a:lnSpc>
                <a:spcPts val="1680"/>
              </a:lnSpc>
              <a:buNone/>
            </a:pPr>
            <a:r>
              <a:rPr lang="en-US" sz="1050" b="1" dirty="0">
                <a:solidFill>
                  <a:srgbClr val="1B2430"/>
                </a:solidFill>
                <a:latin typeface="IBM Plex Sans" pitchFamily="34" charset="0"/>
                <a:ea typeface="IBM Plex Sans" pitchFamily="34" charset="-122"/>
                <a:cs typeface="IBM Plex Sans" pitchFamily="34" charset="-120"/>
              </a:rPr>
              <a:t>Faculty Dashboard</a:t>
            </a:r>
            <a:endParaRPr lang="en-US" sz="1200" dirty="0"/>
          </a:p>
        </p:txBody>
      </p:sp>
      <p:sp>
        <p:nvSpPr>
          <p:cNvPr id="30" name="Shape 27"/>
          <p:cNvSpPr/>
          <p:nvPr/>
        </p:nvSpPr>
        <p:spPr>
          <a:xfrm>
            <a:off x="6149975" y="1618614"/>
            <a:ext cx="1670050" cy="1784350"/>
          </a:xfrm>
          <a:prstGeom prst="roundRect">
            <a:avLst>
              <a:gd name="adj" fmla="val 5894"/>
            </a:avLst>
          </a:prstGeom>
          <a:solidFill>
            <a:srgbClr val="FDFEFF"/>
          </a:solidFill>
          <a:ln w="6350">
            <a:solidFill>
              <a:srgbClr val="DCE5F0"/>
            </a:solidFill>
            <a:prstDash val="solid"/>
          </a:ln>
        </p:spPr>
      </p:sp>
      <p:sp>
        <p:nvSpPr>
          <p:cNvPr id="31" name="Shape 28"/>
          <p:cNvSpPr/>
          <p:nvPr/>
        </p:nvSpPr>
        <p:spPr>
          <a:xfrm>
            <a:off x="6228080" y="1696721"/>
            <a:ext cx="1513840" cy="1351280"/>
          </a:xfrm>
          <a:prstGeom prst="roundRect">
            <a:avLst>
              <a:gd name="adj" fmla="val 4699"/>
            </a:avLst>
          </a:prstGeom>
          <a:solidFill>
            <a:srgbClr val="0B1224"/>
          </a:solidFill>
          <a:ln/>
        </p:spPr>
      </p:sp>
      <p:sp>
        <p:nvSpPr>
          <p:cNvPr id="33" name="Text 29"/>
          <p:cNvSpPr/>
          <p:nvPr/>
        </p:nvSpPr>
        <p:spPr>
          <a:xfrm>
            <a:off x="6202680" y="3111500"/>
            <a:ext cx="1564640" cy="238760"/>
          </a:xfrm>
          <a:prstGeom prst="rect">
            <a:avLst/>
          </a:prstGeom>
          <a:noFill/>
          <a:ln/>
        </p:spPr>
        <p:txBody>
          <a:bodyPr wrap="square" lIns="0" tIns="0" rIns="0" bIns="0" rtlCol="0" anchor="t"/>
          <a:lstStyle/>
          <a:p>
            <a:pPr marL="0" indent="0" algn="ctr">
              <a:lnSpc>
                <a:spcPts val="1680"/>
              </a:lnSpc>
              <a:buNone/>
            </a:pPr>
            <a:r>
              <a:rPr lang="en-US" sz="1050" b="1" dirty="0">
                <a:solidFill>
                  <a:srgbClr val="1B2430"/>
                </a:solidFill>
                <a:latin typeface="IBM Plex Sans" pitchFamily="34" charset="0"/>
                <a:ea typeface="IBM Plex Sans" pitchFamily="34" charset="-122"/>
                <a:cs typeface="IBM Plex Sans" pitchFamily="34" charset="-120"/>
              </a:rPr>
              <a:t>QR Generation</a:t>
            </a:r>
            <a:endParaRPr lang="en-US" sz="1200" dirty="0"/>
          </a:p>
        </p:txBody>
      </p:sp>
      <p:sp>
        <p:nvSpPr>
          <p:cNvPr id="34" name="Shape 30"/>
          <p:cNvSpPr/>
          <p:nvPr/>
        </p:nvSpPr>
        <p:spPr>
          <a:xfrm>
            <a:off x="815975" y="3510914"/>
            <a:ext cx="1670050" cy="1784350"/>
          </a:xfrm>
          <a:prstGeom prst="roundRect">
            <a:avLst>
              <a:gd name="adj" fmla="val 5894"/>
            </a:avLst>
          </a:prstGeom>
          <a:solidFill>
            <a:srgbClr val="FDFEFF"/>
          </a:solidFill>
          <a:ln w="6350">
            <a:solidFill>
              <a:srgbClr val="DCE5F0"/>
            </a:solidFill>
            <a:prstDash val="solid"/>
          </a:ln>
        </p:spPr>
      </p:sp>
      <p:sp>
        <p:nvSpPr>
          <p:cNvPr id="35" name="Shape 31"/>
          <p:cNvSpPr/>
          <p:nvPr/>
        </p:nvSpPr>
        <p:spPr>
          <a:xfrm>
            <a:off x="894080" y="3589021"/>
            <a:ext cx="1513840" cy="1351280"/>
          </a:xfrm>
          <a:prstGeom prst="roundRect">
            <a:avLst>
              <a:gd name="adj" fmla="val 4699"/>
            </a:avLst>
          </a:prstGeom>
          <a:solidFill>
            <a:srgbClr val="0B1224"/>
          </a:solidFill>
          <a:ln/>
        </p:spPr>
      </p:sp>
      <p:sp>
        <p:nvSpPr>
          <p:cNvPr id="38" name="Text 34"/>
          <p:cNvSpPr/>
          <p:nvPr/>
        </p:nvSpPr>
        <p:spPr>
          <a:xfrm>
            <a:off x="868680" y="5003800"/>
            <a:ext cx="1564640" cy="238760"/>
          </a:xfrm>
          <a:prstGeom prst="rect">
            <a:avLst/>
          </a:prstGeom>
          <a:noFill/>
          <a:ln/>
        </p:spPr>
        <p:txBody>
          <a:bodyPr wrap="square" lIns="0" tIns="0" rIns="0" bIns="0" rtlCol="0" anchor="t"/>
          <a:lstStyle/>
          <a:p>
            <a:pPr marL="0" indent="0" algn="ctr">
              <a:lnSpc>
                <a:spcPts val="1680"/>
              </a:lnSpc>
              <a:buNone/>
            </a:pPr>
            <a:r>
              <a:rPr lang="en-US" sz="1050" b="1" dirty="0">
                <a:solidFill>
                  <a:srgbClr val="1B2430"/>
                </a:solidFill>
                <a:latin typeface="IBM Plex Sans" pitchFamily="34" charset="0"/>
                <a:ea typeface="IBM Plex Sans" pitchFamily="34" charset="-122"/>
                <a:cs typeface="IBM Plex Sans" pitchFamily="34" charset="-120"/>
              </a:rPr>
              <a:t>QR Scanner</a:t>
            </a:r>
            <a:endParaRPr lang="en-US" sz="1200" dirty="0"/>
          </a:p>
        </p:txBody>
      </p:sp>
      <p:sp>
        <p:nvSpPr>
          <p:cNvPr id="39" name="Shape 35"/>
          <p:cNvSpPr/>
          <p:nvPr/>
        </p:nvSpPr>
        <p:spPr>
          <a:xfrm>
            <a:off x="2593975" y="3510914"/>
            <a:ext cx="1670050" cy="1784350"/>
          </a:xfrm>
          <a:prstGeom prst="roundRect">
            <a:avLst>
              <a:gd name="adj" fmla="val 5894"/>
            </a:avLst>
          </a:prstGeom>
          <a:solidFill>
            <a:srgbClr val="FDFEFF"/>
          </a:solidFill>
          <a:ln w="6350">
            <a:solidFill>
              <a:srgbClr val="DCE5F0"/>
            </a:solidFill>
            <a:prstDash val="solid"/>
          </a:ln>
        </p:spPr>
      </p:sp>
      <p:sp>
        <p:nvSpPr>
          <p:cNvPr id="40" name="Shape 36"/>
          <p:cNvSpPr/>
          <p:nvPr/>
        </p:nvSpPr>
        <p:spPr>
          <a:xfrm>
            <a:off x="2672080" y="3589021"/>
            <a:ext cx="1513840" cy="1351280"/>
          </a:xfrm>
          <a:prstGeom prst="roundRect">
            <a:avLst>
              <a:gd name="adj" fmla="val 4699"/>
            </a:avLst>
          </a:prstGeom>
          <a:solidFill>
            <a:srgbClr val="0B1224"/>
          </a:solidFill>
          <a:ln/>
        </p:spPr>
      </p:sp>
      <p:sp>
        <p:nvSpPr>
          <p:cNvPr id="43" name="Text 38"/>
          <p:cNvSpPr/>
          <p:nvPr/>
        </p:nvSpPr>
        <p:spPr>
          <a:xfrm>
            <a:off x="2646680" y="5003800"/>
            <a:ext cx="1564640" cy="238760"/>
          </a:xfrm>
          <a:prstGeom prst="rect">
            <a:avLst/>
          </a:prstGeom>
          <a:noFill/>
          <a:ln/>
        </p:spPr>
        <p:txBody>
          <a:bodyPr wrap="square" lIns="0" tIns="0" rIns="0" bIns="0" rtlCol="0" anchor="t"/>
          <a:lstStyle/>
          <a:p>
            <a:pPr marL="0" indent="0" algn="ctr">
              <a:lnSpc>
                <a:spcPts val="1680"/>
              </a:lnSpc>
              <a:buNone/>
            </a:pPr>
            <a:r>
              <a:rPr lang="en-US" sz="1050" b="1" dirty="0">
                <a:solidFill>
                  <a:srgbClr val="1B2430"/>
                </a:solidFill>
                <a:latin typeface="IBM Plex Sans" pitchFamily="34" charset="0"/>
                <a:ea typeface="IBM Plex Sans" pitchFamily="34" charset="-122"/>
                <a:cs typeface="IBM Plex Sans" pitchFamily="34" charset="-120"/>
              </a:rPr>
              <a:t>Manual Sheet</a:t>
            </a:r>
            <a:endParaRPr lang="en-US" sz="1200" dirty="0"/>
          </a:p>
        </p:txBody>
      </p:sp>
      <p:sp>
        <p:nvSpPr>
          <p:cNvPr id="44" name="Shape 39"/>
          <p:cNvSpPr/>
          <p:nvPr/>
        </p:nvSpPr>
        <p:spPr>
          <a:xfrm>
            <a:off x="4371975" y="3510914"/>
            <a:ext cx="1670050" cy="1784350"/>
          </a:xfrm>
          <a:prstGeom prst="roundRect">
            <a:avLst>
              <a:gd name="adj" fmla="val 5894"/>
            </a:avLst>
          </a:prstGeom>
          <a:solidFill>
            <a:srgbClr val="FDFEFF"/>
          </a:solidFill>
          <a:ln w="6350">
            <a:solidFill>
              <a:srgbClr val="DCE5F0"/>
            </a:solidFill>
            <a:prstDash val="solid"/>
          </a:ln>
        </p:spPr>
      </p:sp>
      <p:sp>
        <p:nvSpPr>
          <p:cNvPr id="45" name="Shape 40"/>
          <p:cNvSpPr/>
          <p:nvPr/>
        </p:nvSpPr>
        <p:spPr>
          <a:xfrm>
            <a:off x="4450080" y="3589021"/>
            <a:ext cx="1513840" cy="1351280"/>
          </a:xfrm>
          <a:prstGeom prst="roundRect">
            <a:avLst>
              <a:gd name="adj" fmla="val 4699"/>
            </a:avLst>
          </a:prstGeom>
          <a:solidFill>
            <a:srgbClr val="0B1224"/>
          </a:solidFill>
          <a:ln/>
        </p:spPr>
      </p:sp>
      <p:sp>
        <p:nvSpPr>
          <p:cNvPr id="58" name="Text 53"/>
          <p:cNvSpPr/>
          <p:nvPr/>
        </p:nvSpPr>
        <p:spPr>
          <a:xfrm>
            <a:off x="4424680" y="5003800"/>
            <a:ext cx="1564640" cy="238760"/>
          </a:xfrm>
          <a:prstGeom prst="rect">
            <a:avLst/>
          </a:prstGeom>
          <a:noFill/>
          <a:ln/>
        </p:spPr>
        <p:txBody>
          <a:bodyPr wrap="square" lIns="0" tIns="0" rIns="0" bIns="0" rtlCol="0" anchor="t"/>
          <a:lstStyle/>
          <a:p>
            <a:pPr marL="0" indent="0" algn="ctr">
              <a:lnSpc>
                <a:spcPts val="1680"/>
              </a:lnSpc>
              <a:buNone/>
            </a:pPr>
            <a:r>
              <a:rPr lang="en-US" sz="1050" b="1" dirty="0">
                <a:solidFill>
                  <a:srgbClr val="1B2430"/>
                </a:solidFill>
                <a:latin typeface="IBM Plex Sans" pitchFamily="34" charset="0"/>
                <a:ea typeface="IBM Plex Sans" pitchFamily="34" charset="-122"/>
                <a:cs typeface="IBM Plex Sans" pitchFamily="34" charset="-120"/>
              </a:rPr>
              <a:t>Attendance Log</a:t>
            </a:r>
            <a:endParaRPr lang="en-US" sz="1200" dirty="0"/>
          </a:p>
        </p:txBody>
      </p:sp>
      <p:sp>
        <p:nvSpPr>
          <p:cNvPr id="59" name="Shape 54"/>
          <p:cNvSpPr/>
          <p:nvPr/>
        </p:nvSpPr>
        <p:spPr>
          <a:xfrm>
            <a:off x="6146800" y="3507739"/>
            <a:ext cx="1676400" cy="1790700"/>
          </a:xfrm>
          <a:prstGeom prst="roundRect">
            <a:avLst>
              <a:gd name="adj" fmla="val 6061"/>
            </a:avLst>
          </a:prstGeom>
          <a:solidFill>
            <a:srgbClr val="2563EB"/>
          </a:solidFill>
          <a:ln/>
        </p:spPr>
      </p:sp>
      <p:sp>
        <p:nvSpPr>
          <p:cNvPr id="60" name="Text 55"/>
          <p:cNvSpPr/>
          <p:nvPr/>
        </p:nvSpPr>
        <p:spPr>
          <a:xfrm>
            <a:off x="6248400" y="3634739"/>
            <a:ext cx="1473200" cy="446881"/>
          </a:xfrm>
          <a:prstGeom prst="rect">
            <a:avLst/>
          </a:prstGeom>
          <a:noFill/>
          <a:ln/>
        </p:spPr>
        <p:txBody>
          <a:bodyPr wrap="square" lIns="0" tIns="0" rIns="0" bIns="0" rtlCol="0" anchor="t">
            <a:normAutofit/>
          </a:bodyPr>
          <a:lstStyle/>
          <a:p>
            <a:pPr marL="0" indent="0" algn="ctr">
              <a:lnSpc>
                <a:spcPts val="1659"/>
              </a:lnSpc>
              <a:buNone/>
            </a:pPr>
            <a:r>
              <a:rPr lang="en-US" sz="1185" b="1" kern="0" spc="150" dirty="0">
                <a:solidFill>
                  <a:srgbClr val="FDFEFF"/>
                </a:solidFill>
                <a:latin typeface="IBM Plex Sans" pitchFamily="34" charset="0"/>
                <a:ea typeface="IBM Plex Sans" pitchFamily="34" charset="-122"/>
                <a:cs typeface="IBM Plex Sans" pitchFamily="34" charset="-120"/>
              </a:rPr>
              <a:t>SAMPLE OUTPUT</a:t>
            </a:r>
            <a:endParaRPr lang="en-US" sz="1185" dirty="0"/>
          </a:p>
        </p:txBody>
      </p:sp>
      <p:pic>
        <p:nvPicPr>
          <p:cNvPr id="61" name="Image 3" descr="CheckCircle"/>
          <p:cNvPicPr>
            <a:picLocks noChangeAspect="1"/>
          </p:cNvPicPr>
          <p:nvPr/>
        </p:nvPicPr>
        <p:blipFill>
          <a:blip r:embed="rId4"/>
          <a:srcRect t="-284" b="-284"/>
          <a:stretch/>
        </p:blipFill>
        <p:spPr>
          <a:xfrm>
            <a:off x="6807200" y="4132421"/>
            <a:ext cx="355600" cy="351234"/>
          </a:xfrm>
          <a:prstGeom prst="rect">
            <a:avLst/>
          </a:prstGeom>
        </p:spPr>
      </p:pic>
      <p:sp>
        <p:nvSpPr>
          <p:cNvPr id="62" name="Text 56"/>
          <p:cNvSpPr/>
          <p:nvPr/>
        </p:nvSpPr>
        <p:spPr>
          <a:xfrm>
            <a:off x="6248400" y="4559855"/>
            <a:ext cx="1473200" cy="636984"/>
          </a:xfrm>
          <a:prstGeom prst="rect">
            <a:avLst/>
          </a:prstGeom>
          <a:noFill/>
          <a:ln/>
        </p:spPr>
        <p:txBody>
          <a:bodyPr wrap="square" lIns="0" tIns="0" rIns="0" bIns="0" rtlCol="0" anchor="t">
            <a:normAutofit/>
          </a:bodyPr>
          <a:lstStyle/>
          <a:p>
            <a:pPr marL="0" indent="0" algn="ctr">
              <a:lnSpc>
                <a:spcPts val="1605"/>
              </a:lnSpc>
              <a:buNone/>
            </a:pPr>
            <a:r>
              <a:rPr lang="en-US" sz="1284" b="1" dirty="0">
                <a:solidFill>
                  <a:srgbClr val="FDFEFF"/>
                </a:solidFill>
                <a:latin typeface="IBM Plex Sans" pitchFamily="34" charset="0"/>
                <a:ea typeface="IBM Plex Sans" pitchFamily="34" charset="-122"/>
                <a:cs typeface="IBM Plex Sans" pitchFamily="34" charset="-120"/>
              </a:rPr>
              <a:t>Attendance Marked Successfully</a:t>
            </a:r>
            <a:endParaRPr lang="en-US" sz="1284" dirty="0"/>
          </a:p>
        </p:txBody>
      </p:sp>
      <p:sp>
        <p:nvSpPr>
          <p:cNvPr id="63" name="Shape 57"/>
          <p:cNvSpPr/>
          <p:nvPr/>
        </p:nvSpPr>
        <p:spPr>
          <a:xfrm>
            <a:off x="8077200" y="1615439"/>
            <a:ext cx="3302000" cy="3683000"/>
          </a:xfrm>
          <a:prstGeom prst="roundRect">
            <a:avLst>
              <a:gd name="adj" fmla="val 4615"/>
            </a:avLst>
          </a:prstGeom>
          <a:solidFill>
            <a:srgbClr val="1B2430"/>
          </a:solidFill>
          <a:ln/>
        </p:spPr>
      </p:sp>
      <p:sp>
        <p:nvSpPr>
          <p:cNvPr id="64" name="Text 58"/>
          <p:cNvSpPr/>
          <p:nvPr/>
        </p:nvSpPr>
        <p:spPr>
          <a:xfrm>
            <a:off x="8305800" y="1844039"/>
            <a:ext cx="293014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8BDF8"/>
                </a:solidFill>
                <a:latin typeface="IBM Plex Sans" pitchFamily="34" charset="0"/>
                <a:ea typeface="IBM Plex Sans" pitchFamily="34" charset="-122"/>
                <a:cs typeface="IBM Plex Sans" pitchFamily="34" charset="-120"/>
              </a:rPr>
              <a:t>PERFORMANCE</a:t>
            </a:r>
            <a:endParaRPr lang="en-US" sz="1200" dirty="0"/>
          </a:p>
        </p:txBody>
      </p:sp>
      <p:sp>
        <p:nvSpPr>
          <p:cNvPr id="65" name="Text 59"/>
          <p:cNvSpPr/>
          <p:nvPr/>
        </p:nvSpPr>
        <p:spPr>
          <a:xfrm>
            <a:off x="8305800" y="2171700"/>
            <a:ext cx="293014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38BDF8"/>
                </a:solidFill>
                <a:latin typeface="Rubik" pitchFamily="34" charset="0"/>
                <a:ea typeface="Rubik" pitchFamily="34" charset="-122"/>
                <a:cs typeface="Rubik" pitchFamily="34" charset="-120"/>
              </a:rPr>
              <a:t>&lt; 3 s</a:t>
            </a:r>
            <a:endParaRPr lang="en-US" sz="6000" dirty="0"/>
          </a:p>
        </p:txBody>
      </p:sp>
      <p:sp>
        <p:nvSpPr>
          <p:cNvPr id="66" name="Text 60"/>
          <p:cNvSpPr/>
          <p:nvPr/>
        </p:nvSpPr>
        <p:spPr>
          <a:xfrm>
            <a:off x="8305800" y="3048000"/>
            <a:ext cx="293014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D0DE"/>
                </a:solidFill>
                <a:latin typeface="IBM Plex Sans" pitchFamily="34" charset="0"/>
                <a:ea typeface="IBM Plex Sans" pitchFamily="34" charset="-122"/>
                <a:cs typeface="IBM Plex Sans" pitchFamily="34" charset="-120"/>
              </a:rPr>
              <a:t>to mark attendance</a:t>
            </a:r>
            <a:endParaRPr lang="en-US" sz="1400" dirty="0"/>
          </a:p>
        </p:txBody>
      </p:sp>
      <p:sp>
        <p:nvSpPr>
          <p:cNvPr id="67" name="Shape 61"/>
          <p:cNvSpPr/>
          <p:nvPr/>
        </p:nvSpPr>
        <p:spPr>
          <a:xfrm>
            <a:off x="8305800" y="3414396"/>
            <a:ext cx="2844800" cy="0"/>
          </a:xfrm>
          <a:prstGeom prst="line">
            <a:avLst/>
          </a:prstGeom>
          <a:noFill/>
          <a:ln w="6350">
            <a:solidFill>
              <a:srgbClr val="3B4A5C"/>
            </a:solidFill>
            <a:prstDash val="solid"/>
          </a:ln>
        </p:spPr>
      </p:sp>
      <p:pic>
        <p:nvPicPr>
          <p:cNvPr id="68" name="Image 4" descr="Check"/>
          <p:cNvPicPr>
            <a:picLocks noChangeAspect="1"/>
          </p:cNvPicPr>
          <p:nvPr/>
        </p:nvPicPr>
        <p:blipFill>
          <a:blip r:embed="rId5"/>
          <a:srcRect/>
          <a:stretch/>
        </p:blipFill>
        <p:spPr>
          <a:xfrm>
            <a:off x="8305800" y="3562350"/>
            <a:ext cx="228600" cy="228600"/>
          </a:xfrm>
          <a:prstGeom prst="rect">
            <a:avLst/>
          </a:prstGeom>
        </p:spPr>
      </p:pic>
      <p:sp>
        <p:nvSpPr>
          <p:cNvPr id="69" name="Text 62"/>
          <p:cNvSpPr/>
          <p:nvPr/>
        </p:nvSpPr>
        <p:spPr>
          <a:xfrm>
            <a:off x="8623300" y="3543300"/>
            <a:ext cx="2527300" cy="292100"/>
          </a:xfrm>
          <a:prstGeom prst="rect">
            <a:avLst/>
          </a:prstGeom>
          <a:noFill/>
          <a:ln/>
        </p:spPr>
        <p:txBody>
          <a:bodyPr wrap="square" lIns="0" tIns="0" rIns="0" bIns="0" rtlCol="0" anchor="t"/>
          <a:lstStyle/>
          <a:p>
            <a:pPr marL="0" indent="0" algn="l">
              <a:lnSpc>
                <a:spcPts val="2100"/>
              </a:lnSpc>
              <a:buNone/>
            </a:pPr>
            <a:r>
              <a:rPr lang="en-US" sz="1300" dirty="0">
                <a:solidFill>
                  <a:srgbClr val="FDFEFF"/>
                </a:solidFill>
                <a:latin typeface="IBM Plex Sans" pitchFamily="34" charset="0"/>
                <a:ea typeface="IBM Plex Sans" pitchFamily="34" charset="-122"/>
                <a:cs typeface="IBM Plex Sans" pitchFamily="34" charset="-120"/>
              </a:rPr>
              <a:t>Prevents proxy attendance</a:t>
            </a:r>
            <a:endParaRPr lang="en-US" sz="1500" dirty="0"/>
          </a:p>
        </p:txBody>
      </p:sp>
      <p:pic>
        <p:nvPicPr>
          <p:cNvPr id="70" name="Image 5" descr="Check"/>
          <p:cNvPicPr>
            <a:picLocks noChangeAspect="1"/>
          </p:cNvPicPr>
          <p:nvPr/>
        </p:nvPicPr>
        <p:blipFill>
          <a:blip r:embed="rId5"/>
          <a:srcRect/>
          <a:stretch/>
        </p:blipFill>
        <p:spPr>
          <a:xfrm>
            <a:off x="8305800" y="3930650"/>
            <a:ext cx="228600" cy="228600"/>
          </a:xfrm>
          <a:prstGeom prst="rect">
            <a:avLst/>
          </a:prstGeom>
        </p:spPr>
      </p:pic>
      <p:sp>
        <p:nvSpPr>
          <p:cNvPr id="71" name="Text 63"/>
          <p:cNvSpPr/>
          <p:nvPr/>
        </p:nvSpPr>
        <p:spPr>
          <a:xfrm>
            <a:off x="8623300" y="3911600"/>
            <a:ext cx="230400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DFEFF"/>
                </a:solidFill>
                <a:latin typeface="IBM Plex Sans" pitchFamily="34" charset="0"/>
                <a:ea typeface="IBM Plex Sans" pitchFamily="34" charset="-122"/>
                <a:cs typeface="IBM Plex Sans" pitchFamily="34" charset="-120"/>
              </a:rPr>
              <a:t>Secure authentication</a:t>
            </a:r>
            <a:endParaRPr lang="en-US" sz="1500" dirty="0"/>
          </a:p>
        </p:txBody>
      </p:sp>
      <p:pic>
        <p:nvPicPr>
          <p:cNvPr id="72" name="Image 6" descr="Check"/>
          <p:cNvPicPr>
            <a:picLocks noChangeAspect="1"/>
          </p:cNvPicPr>
          <p:nvPr/>
        </p:nvPicPr>
        <p:blipFill>
          <a:blip r:embed="rId5"/>
          <a:srcRect/>
          <a:stretch/>
        </p:blipFill>
        <p:spPr>
          <a:xfrm>
            <a:off x="8305800" y="4298950"/>
            <a:ext cx="228600" cy="228600"/>
          </a:xfrm>
          <a:prstGeom prst="rect">
            <a:avLst/>
          </a:prstGeom>
        </p:spPr>
      </p:pic>
      <p:sp>
        <p:nvSpPr>
          <p:cNvPr id="73" name="Text 64"/>
          <p:cNvSpPr/>
          <p:nvPr/>
        </p:nvSpPr>
        <p:spPr>
          <a:xfrm>
            <a:off x="8623300" y="4279900"/>
            <a:ext cx="193024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DFEFF"/>
                </a:solidFill>
                <a:latin typeface="IBM Plex Sans" pitchFamily="34" charset="0"/>
                <a:ea typeface="IBM Plex Sans" pitchFamily="34" charset="-122"/>
                <a:cs typeface="IBM Plex Sans" pitchFamily="34" charset="-120"/>
              </a:rPr>
              <a:t>Real-time updates</a:t>
            </a:r>
            <a:endParaRPr lang="en-US" sz="1500" dirty="0"/>
          </a:p>
        </p:txBody>
      </p:sp>
      <p:sp>
        <p:nvSpPr>
          <p:cNvPr id="74" name="Text 65"/>
          <p:cNvSpPr/>
          <p:nvPr/>
        </p:nvSpPr>
        <p:spPr>
          <a:xfrm>
            <a:off x="812800" y="5450839"/>
            <a:ext cx="2052320" cy="391160"/>
          </a:xfrm>
          <a:custGeom>
            <a:avLst/>
            <a:gdLst/>
            <a:ahLst/>
            <a:cxnLst/>
            <a:rect l="l" t="t" r="r" b="b"/>
            <a:pathLst>
              <a:path w="2052320" h="391160">
                <a:moveTo>
                  <a:pt x="195580" y="0"/>
                </a:moveTo>
                <a:lnTo>
                  <a:pt x="1856740" y="0"/>
                </a:lnTo>
                <a:arcTo wR="195580" hR="195580" stAng="16200000" swAng="5400000"/>
                <a:lnTo>
                  <a:pt x="2052320" y="195580"/>
                </a:lnTo>
                <a:arcTo wR="195580" hR="195580" stAng="0" swAng="5400000"/>
                <a:lnTo>
                  <a:pt x="195580" y="391160"/>
                </a:lnTo>
                <a:arcTo wR="195580" hR="195580" stAng="5400000" swAng="5400000"/>
                <a:lnTo>
                  <a:pt x="0" y="195580"/>
                </a:lnTo>
                <a:arcTo wR="195580" hR="195580" stAng="10800000" swAng="5400000"/>
                <a:close/>
              </a:path>
            </a:pathLst>
          </a:custGeom>
          <a:solidFill>
            <a:srgbClr val="E8F0FE"/>
          </a:solidFill>
          <a:ln/>
        </p:spPr>
        <p:txBody>
          <a:bodyPr wrap="square" lIns="47701" tIns="88900" rIns="47701" bIns="63500" rtlCol="0" anchor="t">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Saves teacher time</a:t>
            </a:r>
            <a:endParaRPr lang="en-US" sz="1200" dirty="0"/>
          </a:p>
        </p:txBody>
      </p:sp>
      <p:sp>
        <p:nvSpPr>
          <p:cNvPr id="75" name="Text 66"/>
          <p:cNvSpPr/>
          <p:nvPr/>
        </p:nvSpPr>
        <p:spPr>
          <a:xfrm>
            <a:off x="2941320" y="5450839"/>
            <a:ext cx="2052320" cy="391160"/>
          </a:xfrm>
          <a:custGeom>
            <a:avLst/>
            <a:gdLst/>
            <a:ahLst/>
            <a:cxnLst/>
            <a:rect l="l" t="t" r="r" b="b"/>
            <a:pathLst>
              <a:path w="2052320" h="391160">
                <a:moveTo>
                  <a:pt x="195580" y="0"/>
                </a:moveTo>
                <a:lnTo>
                  <a:pt x="1856740" y="0"/>
                </a:lnTo>
                <a:arcTo wR="195580" hR="195580" stAng="16200000" swAng="5400000"/>
                <a:lnTo>
                  <a:pt x="2052320" y="195580"/>
                </a:lnTo>
                <a:arcTo wR="195580" hR="195580" stAng="0" swAng="5400000"/>
                <a:lnTo>
                  <a:pt x="195580" y="391160"/>
                </a:lnTo>
                <a:arcTo wR="195580" hR="195580" stAng="5400000" swAng="5400000"/>
                <a:lnTo>
                  <a:pt x="0" y="195580"/>
                </a:lnTo>
                <a:arcTo wR="195580" hR="195580" stAng="10800000" swAng="5400000"/>
                <a:close/>
              </a:path>
            </a:pathLst>
          </a:custGeom>
          <a:solidFill>
            <a:srgbClr val="E8F0FE"/>
          </a:solidFill>
          <a:ln/>
        </p:spPr>
        <p:txBody>
          <a:bodyPr wrap="square" lIns="47701" tIns="88900" rIns="47701" bIns="63500" rtlCol="0" anchor="t">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Paperless attendance</a:t>
            </a:r>
            <a:endParaRPr lang="en-US" sz="1200" dirty="0"/>
          </a:p>
        </p:txBody>
      </p:sp>
      <p:sp>
        <p:nvSpPr>
          <p:cNvPr id="76" name="Text 67"/>
          <p:cNvSpPr/>
          <p:nvPr/>
        </p:nvSpPr>
        <p:spPr>
          <a:xfrm>
            <a:off x="5069840" y="5450839"/>
            <a:ext cx="2052320" cy="391160"/>
          </a:xfrm>
          <a:custGeom>
            <a:avLst/>
            <a:gdLst/>
            <a:ahLst/>
            <a:cxnLst/>
            <a:rect l="l" t="t" r="r" b="b"/>
            <a:pathLst>
              <a:path w="2052320" h="391160">
                <a:moveTo>
                  <a:pt x="195580" y="0"/>
                </a:moveTo>
                <a:lnTo>
                  <a:pt x="1856740" y="0"/>
                </a:lnTo>
                <a:arcTo wR="195580" hR="195580" stAng="16200000" swAng="5400000"/>
                <a:lnTo>
                  <a:pt x="2052320" y="195580"/>
                </a:lnTo>
                <a:arcTo wR="195580" hR="195580" stAng="0" swAng="5400000"/>
                <a:lnTo>
                  <a:pt x="195580" y="391160"/>
                </a:lnTo>
                <a:arcTo wR="195580" hR="195580" stAng="5400000" swAng="5400000"/>
                <a:lnTo>
                  <a:pt x="0" y="195580"/>
                </a:lnTo>
                <a:arcTo wR="195580" hR="195580" stAng="10800000" swAng="5400000"/>
                <a:close/>
              </a:path>
            </a:pathLst>
          </a:custGeom>
          <a:solidFill>
            <a:srgbClr val="E8F0FE"/>
          </a:solidFill>
          <a:ln/>
        </p:spPr>
        <p:txBody>
          <a:bodyPr wrap="square" lIns="47701" tIns="88900" rIns="47701" bIns="63500" rtlCol="0" anchor="t">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Accurate records</a:t>
            </a:r>
            <a:endParaRPr lang="en-US" sz="1200" dirty="0"/>
          </a:p>
        </p:txBody>
      </p:sp>
      <p:sp>
        <p:nvSpPr>
          <p:cNvPr id="77" name="Text 68"/>
          <p:cNvSpPr/>
          <p:nvPr/>
        </p:nvSpPr>
        <p:spPr>
          <a:xfrm>
            <a:off x="7198360" y="5450839"/>
            <a:ext cx="2052320" cy="391160"/>
          </a:xfrm>
          <a:custGeom>
            <a:avLst/>
            <a:gdLst/>
            <a:ahLst/>
            <a:cxnLst/>
            <a:rect l="l" t="t" r="r" b="b"/>
            <a:pathLst>
              <a:path w="2052320" h="391160">
                <a:moveTo>
                  <a:pt x="195580" y="0"/>
                </a:moveTo>
                <a:lnTo>
                  <a:pt x="1856740" y="0"/>
                </a:lnTo>
                <a:arcTo wR="195580" hR="195580" stAng="16200000" swAng="5400000"/>
                <a:lnTo>
                  <a:pt x="2052320" y="195580"/>
                </a:lnTo>
                <a:arcTo wR="195580" hR="195580" stAng="0" swAng="5400000"/>
                <a:lnTo>
                  <a:pt x="195580" y="391160"/>
                </a:lnTo>
                <a:arcTo wR="195580" hR="195580" stAng="5400000" swAng="5400000"/>
                <a:lnTo>
                  <a:pt x="0" y="195580"/>
                </a:lnTo>
                <a:arcTo wR="195580" hR="195580" stAng="10800000" swAng="5400000"/>
                <a:close/>
              </a:path>
            </a:pathLst>
          </a:custGeom>
          <a:solidFill>
            <a:srgbClr val="E8F0FE"/>
          </a:solidFill>
          <a:ln/>
        </p:spPr>
        <p:txBody>
          <a:bodyPr wrap="square" lIns="47701" tIns="88900" rIns="47701" bIns="63500" rtlCol="0" anchor="t">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Secure verification</a:t>
            </a:r>
            <a:endParaRPr lang="en-US" sz="1200" dirty="0"/>
          </a:p>
        </p:txBody>
      </p:sp>
      <p:sp>
        <p:nvSpPr>
          <p:cNvPr id="78" name="Text 69"/>
          <p:cNvSpPr/>
          <p:nvPr/>
        </p:nvSpPr>
        <p:spPr>
          <a:xfrm>
            <a:off x="9326880" y="5450839"/>
            <a:ext cx="2052320" cy="391160"/>
          </a:xfrm>
          <a:custGeom>
            <a:avLst/>
            <a:gdLst/>
            <a:ahLst/>
            <a:cxnLst/>
            <a:rect l="l" t="t" r="r" b="b"/>
            <a:pathLst>
              <a:path w="2052320" h="391160">
                <a:moveTo>
                  <a:pt x="195580" y="0"/>
                </a:moveTo>
                <a:lnTo>
                  <a:pt x="1856740" y="0"/>
                </a:lnTo>
                <a:arcTo wR="195580" hR="195580" stAng="16200000" swAng="5400000"/>
                <a:lnTo>
                  <a:pt x="2052320" y="195580"/>
                </a:lnTo>
                <a:arcTo wR="195580" hR="195580" stAng="0" swAng="5400000"/>
                <a:lnTo>
                  <a:pt x="195580" y="391160"/>
                </a:lnTo>
                <a:arcTo wR="195580" hR="195580" stAng="5400000" swAng="5400000"/>
                <a:lnTo>
                  <a:pt x="0" y="195580"/>
                </a:lnTo>
                <a:arcTo wR="195580" hR="195580" stAng="10800000" swAng="5400000"/>
                <a:close/>
              </a:path>
            </a:pathLst>
          </a:custGeom>
          <a:solidFill>
            <a:srgbClr val="E8F0FE"/>
          </a:solidFill>
          <a:ln/>
        </p:spPr>
        <p:txBody>
          <a:bodyPr wrap="square" lIns="47701" tIns="88900" rIns="47701" bIns="63500" rtlCol="0" anchor="t"/>
          <a:lstStyle/>
          <a:p>
            <a:pPr marL="0" indent="0" algn="ctr">
              <a:lnSpc>
                <a:spcPts val="1680"/>
              </a:lnSpc>
              <a:buNone/>
            </a:pPr>
            <a:r>
              <a:rPr lang="en-US" sz="1100" b="1" dirty="0">
                <a:solidFill>
                  <a:srgbClr val="1D4ED8"/>
                </a:solidFill>
                <a:latin typeface="IBM Plex Sans" pitchFamily="34" charset="0"/>
                <a:ea typeface="IBM Plex Sans" pitchFamily="34" charset="-122"/>
                <a:cs typeface="IBM Plex Sans" pitchFamily="34" charset="-120"/>
              </a:rPr>
              <a:t>Easy report generation</a:t>
            </a:r>
            <a:endParaRPr lang="en-US" sz="1200" dirty="0"/>
          </a:p>
        </p:txBody>
      </p:sp>
      <p:sp>
        <p:nvSpPr>
          <p:cNvPr id="79" name="Text 70"/>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5"/>
                </a:solidFill>
                <a:latin typeface="IBM Plex Sans" pitchFamily="34" charset="0"/>
                <a:ea typeface="IBM Plex Sans" pitchFamily="34" charset="-122"/>
                <a:cs typeface="IBM Plex Sans" pitchFamily="34" charset="-120"/>
              </a:rPr>
              <a:t>Smart Attendance System · Secure QR Verification</a:t>
            </a:r>
            <a:endParaRPr lang="en-US" sz="1200" dirty="0"/>
          </a:p>
        </p:txBody>
      </p:sp>
      <p:sp>
        <p:nvSpPr>
          <p:cNvPr id="80" name="Text 71"/>
          <p:cNvSpPr/>
          <p:nvPr/>
        </p:nvSpPr>
        <p:spPr>
          <a:xfrm>
            <a:off x="10312400" y="6238239"/>
            <a:ext cx="1066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5"/>
                </a:solidFill>
                <a:latin typeface="IBM Plex Sans" pitchFamily="34" charset="0"/>
                <a:ea typeface="IBM Plex Sans" pitchFamily="34" charset="-122"/>
                <a:cs typeface="IBM Plex Sans" pitchFamily="34" charset="-120"/>
              </a:rPr>
              <a:t>06 / 07</a:t>
            </a:r>
            <a:endParaRPr lang="en-US" sz="1200" dirty="0"/>
          </a:p>
        </p:txBody>
      </p:sp>
      <p:pic>
        <p:nvPicPr>
          <p:cNvPr id="82" name="Picture 81">
            <a:extLst>
              <a:ext uri="{FF2B5EF4-FFF2-40B4-BE49-F238E27FC236}">
                <a16:creationId xmlns:a16="http://schemas.microsoft.com/office/drawing/2014/main" id="{5A944CD1-5093-3C87-F262-C1F26DD2F2D8}"/>
              </a:ext>
            </a:extLst>
          </p:cNvPr>
          <p:cNvPicPr>
            <a:picLocks noChangeAspect="1"/>
          </p:cNvPicPr>
          <p:nvPr/>
        </p:nvPicPr>
        <p:blipFill>
          <a:blip r:embed="rId6"/>
          <a:stretch>
            <a:fillRect/>
          </a:stretch>
        </p:blipFill>
        <p:spPr>
          <a:xfrm>
            <a:off x="926213" y="1731673"/>
            <a:ext cx="1491295" cy="1352670"/>
          </a:xfrm>
          <a:prstGeom prst="rect">
            <a:avLst/>
          </a:prstGeom>
        </p:spPr>
      </p:pic>
      <p:pic>
        <p:nvPicPr>
          <p:cNvPr id="83" name="Screenshot Student Dashboard" descr="WhatsApp_Image_2026-10-09_at_10_46_28_PM__2_.jpeg"/>
          <p:cNvPicPr>
            <a:picLocks noChangeAspect="1"/>
          </p:cNvPicPr>
          <p:nvPr/>
        </p:nvPicPr>
        <p:blipFill>
          <a:blip r:embed="rId7"/>
          <a:stretch>
            <a:fillRect/>
          </a:stretch>
        </p:blipFill>
        <p:spPr>
          <a:xfrm>
            <a:off x="2702080" y="1982550"/>
            <a:ext cx="1453840" cy="779621"/>
          </a:xfrm>
          <a:prstGeom prst="rect">
            <a:avLst/>
          </a:prstGeom>
        </p:spPr>
      </p:pic>
      <p:pic>
        <p:nvPicPr>
          <p:cNvPr id="84" name="Screenshot Faculty Dashboard" descr="WhatsApp_Image_2026-10-09_at_10_46_29_PM.jpeg"/>
          <p:cNvPicPr>
            <a:picLocks noChangeAspect="1"/>
          </p:cNvPicPr>
          <p:nvPr/>
        </p:nvPicPr>
        <p:blipFill>
          <a:blip r:embed="rId8"/>
          <a:stretch>
            <a:fillRect/>
          </a:stretch>
        </p:blipFill>
        <p:spPr>
          <a:xfrm>
            <a:off x="4480080" y="1998906"/>
            <a:ext cx="1453840" cy="746910"/>
          </a:xfrm>
          <a:prstGeom prst="rect">
            <a:avLst/>
          </a:prstGeom>
        </p:spPr>
      </p:pic>
      <p:pic>
        <p:nvPicPr>
          <p:cNvPr id="85" name="Screenshot QR Generation" descr="WhatsApp_Image_2026-10-09_at_10_46_28_PM__3_.jpeg"/>
          <p:cNvPicPr>
            <a:picLocks noChangeAspect="1"/>
          </p:cNvPicPr>
          <p:nvPr/>
        </p:nvPicPr>
        <p:blipFill>
          <a:blip r:embed="rId9"/>
          <a:stretch>
            <a:fillRect/>
          </a:stretch>
        </p:blipFill>
        <p:spPr>
          <a:xfrm>
            <a:off x="6258080" y="1983004"/>
            <a:ext cx="1453840" cy="778713"/>
          </a:xfrm>
          <a:prstGeom prst="rect">
            <a:avLst/>
          </a:prstGeom>
        </p:spPr>
      </p:pic>
      <p:pic>
        <p:nvPicPr>
          <p:cNvPr id="86" name="Screenshot QR Scanner" descr="WhatsApp_Image_2026-10-09_at_10_46_28_PM__1_.jpeg"/>
          <p:cNvPicPr>
            <a:picLocks noChangeAspect="1"/>
          </p:cNvPicPr>
          <p:nvPr/>
        </p:nvPicPr>
        <p:blipFill>
          <a:blip r:embed="rId10"/>
          <a:stretch>
            <a:fillRect/>
          </a:stretch>
        </p:blipFill>
        <p:spPr>
          <a:xfrm>
            <a:off x="924080" y="3890297"/>
            <a:ext cx="1453840" cy="748727"/>
          </a:xfrm>
          <a:prstGeom prst="rect">
            <a:avLst/>
          </a:prstGeom>
        </p:spPr>
      </p:pic>
      <p:pic>
        <p:nvPicPr>
          <p:cNvPr id="87" name="Screenshot Attendance Success" descr="WhatsApp_Image_2026-10-09_at_10_46_29_PM__1_.jpeg"/>
          <p:cNvPicPr>
            <a:picLocks noChangeAspect="1"/>
          </p:cNvPicPr>
          <p:nvPr/>
        </p:nvPicPr>
        <p:blipFill>
          <a:blip r:embed="rId11"/>
          <a:stretch>
            <a:fillRect/>
          </a:stretch>
        </p:blipFill>
        <p:spPr>
          <a:xfrm>
            <a:off x="2702080" y="3865309"/>
            <a:ext cx="1453840" cy="798703"/>
          </a:xfrm>
          <a:prstGeom prst="rect">
            <a:avLst/>
          </a:prstGeom>
        </p:spPr>
      </p:pic>
      <p:pic>
        <p:nvPicPr>
          <p:cNvPr id="88" name="Screenshot Attendance Report" descr="WhatsApp_Image_2026-10-09_at_10_46_28_PM.jpeg"/>
          <p:cNvPicPr>
            <a:picLocks noChangeAspect="1"/>
          </p:cNvPicPr>
          <p:nvPr/>
        </p:nvPicPr>
        <p:blipFill>
          <a:blip r:embed="rId12"/>
          <a:stretch>
            <a:fillRect/>
          </a:stretch>
        </p:blipFill>
        <p:spPr>
          <a:xfrm>
            <a:off x="4480080" y="3878485"/>
            <a:ext cx="1453840" cy="772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563EB"/>
                </a:solidFill>
                <a:latin typeface="IBM Plex Sans" pitchFamily="34" charset="0"/>
                <a:ea typeface="IBM Plex Sans" pitchFamily="34" charset="-122"/>
                <a:cs typeface="IBM Plex Sans" pitchFamily="34" charset="-120"/>
              </a:rPr>
              <a:t>WHAT IS NEXT</a:t>
            </a:r>
            <a:endParaRPr lang="en-US" sz="1200" dirty="0"/>
          </a:p>
        </p:txBody>
      </p:sp>
      <p:sp>
        <p:nvSpPr>
          <p:cNvPr id="3" name="Text 1"/>
          <p:cNvSpPr>
            <a:spLocks noGrp="1"/>
          </p:cNvSpPr>
          <p:nvPr>
            <p:ph type="title"/>
          </p:nvPr>
        </p:nvSpPr>
        <p:spPr>
          <a:xfrm>
            <a:off x="812800" y="962661"/>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B2430"/>
                </a:solidFill>
                <a:latin typeface="Rubik" pitchFamily="34" charset="0"/>
                <a:ea typeface="Rubik" pitchFamily="34" charset="-122"/>
                <a:cs typeface="Rubik" pitchFamily="34" charset="-120"/>
              </a:rPr>
              <a:t>Future Vision</a:t>
            </a:r>
            <a:endParaRPr lang="en-US" sz="3400" dirty="0"/>
          </a:p>
        </p:txBody>
      </p:sp>
      <p:sp>
        <p:nvSpPr>
          <p:cNvPr id="4" name="Shape 2"/>
          <p:cNvSpPr/>
          <p:nvPr/>
        </p:nvSpPr>
        <p:spPr>
          <a:xfrm>
            <a:off x="815975" y="1593214"/>
            <a:ext cx="2836227" cy="2839720"/>
          </a:xfrm>
          <a:prstGeom prst="roundRect">
            <a:avLst>
              <a:gd name="adj" fmla="val 5261"/>
            </a:avLst>
          </a:prstGeom>
          <a:solidFill>
            <a:srgbClr val="FDFEFF"/>
          </a:solidFill>
          <a:ln w="6350">
            <a:solidFill>
              <a:srgbClr val="DCE5F0"/>
            </a:solidFill>
            <a:prstDash val="solid"/>
          </a:ln>
        </p:spPr>
      </p:sp>
      <p:sp>
        <p:nvSpPr>
          <p:cNvPr id="5" name="Text 3"/>
          <p:cNvSpPr/>
          <p:nvPr/>
        </p:nvSpPr>
        <p:spPr>
          <a:xfrm>
            <a:off x="995680" y="1772921"/>
            <a:ext cx="255112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CURRENT ACHIEVEMENT</a:t>
            </a:r>
            <a:endParaRPr lang="en-US" sz="1200" dirty="0"/>
          </a:p>
        </p:txBody>
      </p:sp>
      <p:pic>
        <p:nvPicPr>
          <p:cNvPr id="6" name="Image 0" descr="Check"/>
          <p:cNvPicPr>
            <a:picLocks noChangeAspect="1"/>
          </p:cNvPicPr>
          <p:nvPr/>
        </p:nvPicPr>
        <p:blipFill>
          <a:blip r:embed="rId3"/>
          <a:srcRect/>
          <a:stretch/>
        </p:blipFill>
        <p:spPr>
          <a:xfrm>
            <a:off x="995680" y="2089150"/>
            <a:ext cx="203200" cy="203200"/>
          </a:xfrm>
          <a:prstGeom prst="rect">
            <a:avLst/>
          </a:prstGeom>
        </p:spPr>
      </p:pic>
      <p:sp>
        <p:nvSpPr>
          <p:cNvPr id="7" name="Text 4"/>
          <p:cNvSpPr/>
          <p:nvPr/>
        </p:nvSpPr>
        <p:spPr>
          <a:xfrm>
            <a:off x="1275080" y="2075182"/>
            <a:ext cx="194205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Functional MERN app</a:t>
            </a:r>
            <a:endParaRPr lang="en-US" sz="1300" dirty="0"/>
          </a:p>
        </p:txBody>
      </p:sp>
      <p:pic>
        <p:nvPicPr>
          <p:cNvPr id="8" name="Image 1" descr="Check"/>
          <p:cNvPicPr>
            <a:picLocks noChangeAspect="1"/>
          </p:cNvPicPr>
          <p:nvPr/>
        </p:nvPicPr>
        <p:blipFill>
          <a:blip r:embed="rId3"/>
          <a:srcRect/>
          <a:stretch/>
        </p:blipFill>
        <p:spPr>
          <a:xfrm>
            <a:off x="995680" y="2409189"/>
            <a:ext cx="203200" cy="203200"/>
          </a:xfrm>
          <a:prstGeom prst="rect">
            <a:avLst/>
          </a:prstGeom>
        </p:spPr>
      </p:pic>
      <p:sp>
        <p:nvSpPr>
          <p:cNvPr id="9" name="Text 5"/>
          <p:cNvSpPr/>
          <p:nvPr/>
        </p:nvSpPr>
        <p:spPr>
          <a:xfrm>
            <a:off x="1275080" y="2395221"/>
            <a:ext cx="201958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Secure QR attendance</a:t>
            </a:r>
            <a:endParaRPr lang="en-US" sz="1300" dirty="0"/>
          </a:p>
        </p:txBody>
      </p:sp>
      <p:pic>
        <p:nvPicPr>
          <p:cNvPr id="10" name="Image 2" descr="Check"/>
          <p:cNvPicPr>
            <a:picLocks noChangeAspect="1"/>
          </p:cNvPicPr>
          <p:nvPr/>
        </p:nvPicPr>
        <p:blipFill>
          <a:blip r:embed="rId3"/>
          <a:srcRect/>
          <a:stretch/>
        </p:blipFill>
        <p:spPr>
          <a:xfrm>
            <a:off x="995680" y="2729232"/>
            <a:ext cx="203200" cy="203200"/>
          </a:xfrm>
          <a:prstGeom prst="rect">
            <a:avLst/>
          </a:prstGeom>
        </p:spPr>
      </p:pic>
      <p:sp>
        <p:nvSpPr>
          <p:cNvPr id="11" name="Text 6"/>
          <p:cNvSpPr/>
          <p:nvPr/>
        </p:nvSpPr>
        <p:spPr>
          <a:xfrm>
            <a:off x="1275080" y="2715261"/>
            <a:ext cx="177250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JWT authentication</a:t>
            </a:r>
            <a:endParaRPr lang="en-US" sz="1300" dirty="0"/>
          </a:p>
        </p:txBody>
      </p:sp>
      <p:pic>
        <p:nvPicPr>
          <p:cNvPr id="12" name="Image 3" descr="Check"/>
          <p:cNvPicPr>
            <a:picLocks noChangeAspect="1"/>
          </p:cNvPicPr>
          <p:nvPr/>
        </p:nvPicPr>
        <p:blipFill>
          <a:blip r:embed="rId3"/>
          <a:srcRect/>
          <a:stretch/>
        </p:blipFill>
        <p:spPr>
          <a:xfrm>
            <a:off x="995680" y="3049271"/>
            <a:ext cx="203200" cy="203200"/>
          </a:xfrm>
          <a:prstGeom prst="rect">
            <a:avLst/>
          </a:prstGeom>
        </p:spPr>
      </p:pic>
      <p:sp>
        <p:nvSpPr>
          <p:cNvPr id="13" name="Text 7"/>
          <p:cNvSpPr/>
          <p:nvPr/>
        </p:nvSpPr>
        <p:spPr>
          <a:xfrm>
            <a:off x="1275080" y="3035300"/>
            <a:ext cx="20617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Attendance dashboard</a:t>
            </a:r>
            <a:endParaRPr lang="en-US" sz="1300" dirty="0"/>
          </a:p>
        </p:txBody>
      </p:sp>
      <p:pic>
        <p:nvPicPr>
          <p:cNvPr id="14" name="Image 4" descr="Check"/>
          <p:cNvPicPr>
            <a:picLocks noChangeAspect="1"/>
          </p:cNvPicPr>
          <p:nvPr/>
        </p:nvPicPr>
        <p:blipFill>
          <a:blip r:embed="rId3"/>
          <a:srcRect/>
          <a:stretch/>
        </p:blipFill>
        <p:spPr>
          <a:xfrm>
            <a:off x="995680" y="3369311"/>
            <a:ext cx="203200" cy="203200"/>
          </a:xfrm>
          <a:prstGeom prst="rect">
            <a:avLst/>
          </a:prstGeom>
        </p:spPr>
      </p:pic>
      <p:sp>
        <p:nvSpPr>
          <p:cNvPr id="15" name="Text 8"/>
          <p:cNvSpPr/>
          <p:nvPr/>
        </p:nvSpPr>
        <p:spPr>
          <a:xfrm>
            <a:off x="1275080" y="3355339"/>
            <a:ext cx="190595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MongoDB integration</a:t>
            </a:r>
            <a:endParaRPr lang="en-US" sz="1300" dirty="0"/>
          </a:p>
        </p:txBody>
      </p:sp>
      <p:sp>
        <p:nvSpPr>
          <p:cNvPr id="16" name="Shape 9"/>
          <p:cNvSpPr/>
          <p:nvPr/>
        </p:nvSpPr>
        <p:spPr>
          <a:xfrm>
            <a:off x="3810953" y="1593214"/>
            <a:ext cx="4817745" cy="2839720"/>
          </a:xfrm>
          <a:prstGeom prst="roundRect">
            <a:avLst>
              <a:gd name="adj" fmla="val 5255"/>
            </a:avLst>
          </a:prstGeom>
          <a:solidFill>
            <a:srgbClr val="FDFEFF"/>
          </a:solidFill>
          <a:ln w="6350">
            <a:solidFill>
              <a:srgbClr val="DCE5F0"/>
            </a:solidFill>
            <a:prstDash val="solid"/>
          </a:ln>
        </p:spPr>
      </p:sp>
      <p:sp>
        <p:nvSpPr>
          <p:cNvPr id="17" name="Text 10"/>
          <p:cNvSpPr/>
          <p:nvPr/>
        </p:nvSpPr>
        <p:spPr>
          <a:xfrm>
            <a:off x="3990658" y="1772921"/>
            <a:ext cx="459208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FUTURE IMPROVEMENTS</a:t>
            </a:r>
            <a:endParaRPr lang="en-US" sz="1200" dirty="0"/>
          </a:p>
        </p:txBody>
      </p:sp>
      <p:sp>
        <p:nvSpPr>
          <p:cNvPr id="18" name="Shape 11"/>
          <p:cNvSpPr/>
          <p:nvPr/>
        </p:nvSpPr>
        <p:spPr>
          <a:xfrm>
            <a:off x="3990658" y="2075182"/>
            <a:ext cx="2191068" cy="325120"/>
          </a:xfrm>
          <a:prstGeom prst="roundRect">
            <a:avLst>
              <a:gd name="adj" fmla="val 23438"/>
            </a:avLst>
          </a:prstGeom>
          <a:solidFill>
            <a:srgbClr val="E8F0FE"/>
          </a:solidFill>
          <a:ln/>
        </p:spPr>
      </p:sp>
      <p:pic>
        <p:nvPicPr>
          <p:cNvPr id="19" name="Image 5" descr="ellipse"/>
          <p:cNvPicPr>
            <a:picLocks noChangeAspect="1"/>
          </p:cNvPicPr>
          <p:nvPr/>
        </p:nvPicPr>
        <p:blipFill>
          <a:blip r:embed="rId4"/>
          <a:srcRect/>
          <a:stretch/>
        </p:blipFill>
        <p:spPr>
          <a:xfrm>
            <a:off x="4079558" y="2199639"/>
            <a:ext cx="76200" cy="76200"/>
          </a:xfrm>
          <a:prstGeom prst="rect">
            <a:avLst/>
          </a:prstGeom>
        </p:spPr>
      </p:pic>
      <p:sp>
        <p:nvSpPr>
          <p:cNvPr id="20" name="Text 12"/>
          <p:cNvSpPr/>
          <p:nvPr/>
        </p:nvSpPr>
        <p:spPr>
          <a:xfrm>
            <a:off x="4219258" y="2138682"/>
            <a:ext cx="1664018"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AI Face Recognition</a:t>
            </a:r>
            <a:endParaRPr lang="en-US" sz="1200" dirty="0"/>
          </a:p>
        </p:txBody>
      </p:sp>
      <p:sp>
        <p:nvSpPr>
          <p:cNvPr id="21" name="Shape 13"/>
          <p:cNvSpPr/>
          <p:nvPr/>
        </p:nvSpPr>
        <p:spPr>
          <a:xfrm>
            <a:off x="6257925" y="2075182"/>
            <a:ext cx="2191068" cy="325120"/>
          </a:xfrm>
          <a:prstGeom prst="roundRect">
            <a:avLst>
              <a:gd name="adj" fmla="val 23438"/>
            </a:avLst>
          </a:prstGeom>
          <a:solidFill>
            <a:srgbClr val="E8F0FE"/>
          </a:solidFill>
          <a:ln/>
        </p:spPr>
      </p:sp>
      <p:pic>
        <p:nvPicPr>
          <p:cNvPr id="22" name="Image 6" descr="ellipse"/>
          <p:cNvPicPr>
            <a:picLocks noChangeAspect="1"/>
          </p:cNvPicPr>
          <p:nvPr/>
        </p:nvPicPr>
        <p:blipFill>
          <a:blip r:embed="rId4"/>
          <a:srcRect/>
          <a:stretch/>
        </p:blipFill>
        <p:spPr>
          <a:xfrm>
            <a:off x="6346825" y="2199639"/>
            <a:ext cx="76200" cy="76200"/>
          </a:xfrm>
          <a:prstGeom prst="rect">
            <a:avLst/>
          </a:prstGeom>
        </p:spPr>
      </p:pic>
      <p:sp>
        <p:nvSpPr>
          <p:cNvPr id="23" name="Text 14"/>
          <p:cNvSpPr/>
          <p:nvPr/>
        </p:nvSpPr>
        <p:spPr>
          <a:xfrm>
            <a:off x="6486525" y="2138682"/>
            <a:ext cx="1962468"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Fingerprint Authentication</a:t>
            </a:r>
            <a:endParaRPr lang="en-US" sz="1200" dirty="0"/>
          </a:p>
        </p:txBody>
      </p:sp>
      <p:sp>
        <p:nvSpPr>
          <p:cNvPr id="24" name="Shape 15"/>
          <p:cNvSpPr/>
          <p:nvPr/>
        </p:nvSpPr>
        <p:spPr>
          <a:xfrm>
            <a:off x="3990658" y="2476500"/>
            <a:ext cx="2191068" cy="325120"/>
          </a:xfrm>
          <a:prstGeom prst="roundRect">
            <a:avLst>
              <a:gd name="adj" fmla="val 23438"/>
            </a:avLst>
          </a:prstGeom>
          <a:solidFill>
            <a:srgbClr val="E8F0FE"/>
          </a:solidFill>
          <a:ln/>
        </p:spPr>
      </p:sp>
      <p:pic>
        <p:nvPicPr>
          <p:cNvPr id="25" name="Image 7" descr="ellipse"/>
          <p:cNvPicPr>
            <a:picLocks noChangeAspect="1"/>
          </p:cNvPicPr>
          <p:nvPr/>
        </p:nvPicPr>
        <p:blipFill>
          <a:blip r:embed="rId4"/>
          <a:srcRect/>
          <a:stretch/>
        </p:blipFill>
        <p:spPr>
          <a:xfrm>
            <a:off x="4079558" y="2600961"/>
            <a:ext cx="76200" cy="76200"/>
          </a:xfrm>
          <a:prstGeom prst="rect">
            <a:avLst/>
          </a:prstGeom>
        </p:spPr>
      </p:pic>
      <p:sp>
        <p:nvSpPr>
          <p:cNvPr id="26" name="Text 16"/>
          <p:cNvSpPr/>
          <p:nvPr/>
        </p:nvSpPr>
        <p:spPr>
          <a:xfrm>
            <a:off x="4219258" y="2540000"/>
            <a:ext cx="1355979"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NFC Attendance</a:t>
            </a:r>
            <a:endParaRPr lang="en-US" sz="1200" dirty="0"/>
          </a:p>
        </p:txBody>
      </p:sp>
      <p:sp>
        <p:nvSpPr>
          <p:cNvPr id="27" name="Shape 17"/>
          <p:cNvSpPr/>
          <p:nvPr/>
        </p:nvSpPr>
        <p:spPr>
          <a:xfrm>
            <a:off x="6257925" y="2476500"/>
            <a:ext cx="2191068" cy="325120"/>
          </a:xfrm>
          <a:prstGeom prst="roundRect">
            <a:avLst>
              <a:gd name="adj" fmla="val 23438"/>
            </a:avLst>
          </a:prstGeom>
          <a:solidFill>
            <a:srgbClr val="E8F0FE"/>
          </a:solidFill>
          <a:ln/>
        </p:spPr>
      </p:sp>
      <p:pic>
        <p:nvPicPr>
          <p:cNvPr id="28" name="Image 8" descr="ellipse"/>
          <p:cNvPicPr>
            <a:picLocks noChangeAspect="1"/>
          </p:cNvPicPr>
          <p:nvPr/>
        </p:nvPicPr>
        <p:blipFill>
          <a:blip r:embed="rId4"/>
          <a:srcRect/>
          <a:stretch/>
        </p:blipFill>
        <p:spPr>
          <a:xfrm>
            <a:off x="6346825" y="2600961"/>
            <a:ext cx="76200" cy="76200"/>
          </a:xfrm>
          <a:prstGeom prst="rect">
            <a:avLst/>
          </a:prstGeom>
        </p:spPr>
      </p:pic>
      <p:sp>
        <p:nvSpPr>
          <p:cNvPr id="29" name="Text 18"/>
          <p:cNvSpPr/>
          <p:nvPr/>
        </p:nvSpPr>
        <p:spPr>
          <a:xfrm>
            <a:off x="6486525" y="2540000"/>
            <a:ext cx="1962468"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BLE Beacon Verification</a:t>
            </a:r>
            <a:endParaRPr lang="en-US" sz="1200" dirty="0"/>
          </a:p>
        </p:txBody>
      </p:sp>
      <p:sp>
        <p:nvSpPr>
          <p:cNvPr id="30" name="Shape 19"/>
          <p:cNvSpPr/>
          <p:nvPr/>
        </p:nvSpPr>
        <p:spPr>
          <a:xfrm>
            <a:off x="3990658" y="2877821"/>
            <a:ext cx="2191068" cy="325120"/>
          </a:xfrm>
          <a:prstGeom prst="roundRect">
            <a:avLst>
              <a:gd name="adj" fmla="val 23438"/>
            </a:avLst>
          </a:prstGeom>
          <a:solidFill>
            <a:srgbClr val="E8F0FE"/>
          </a:solidFill>
          <a:ln/>
        </p:spPr>
      </p:sp>
      <p:pic>
        <p:nvPicPr>
          <p:cNvPr id="31" name="Image 9" descr="ellipse"/>
          <p:cNvPicPr>
            <a:picLocks noChangeAspect="1"/>
          </p:cNvPicPr>
          <p:nvPr/>
        </p:nvPicPr>
        <p:blipFill>
          <a:blip r:embed="rId4"/>
          <a:srcRect/>
          <a:stretch/>
        </p:blipFill>
        <p:spPr>
          <a:xfrm>
            <a:off x="4079558" y="3002282"/>
            <a:ext cx="76200" cy="76200"/>
          </a:xfrm>
          <a:prstGeom prst="rect">
            <a:avLst/>
          </a:prstGeom>
        </p:spPr>
      </p:pic>
      <p:sp>
        <p:nvSpPr>
          <p:cNvPr id="32" name="Text 20"/>
          <p:cNvSpPr/>
          <p:nvPr/>
        </p:nvSpPr>
        <p:spPr>
          <a:xfrm>
            <a:off x="4219258" y="2941321"/>
            <a:ext cx="166497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Parent Notifications</a:t>
            </a:r>
            <a:endParaRPr lang="en-US" sz="1200" dirty="0"/>
          </a:p>
        </p:txBody>
      </p:sp>
      <p:sp>
        <p:nvSpPr>
          <p:cNvPr id="33" name="Shape 21"/>
          <p:cNvSpPr/>
          <p:nvPr/>
        </p:nvSpPr>
        <p:spPr>
          <a:xfrm>
            <a:off x="6257925" y="2877821"/>
            <a:ext cx="2191068" cy="325120"/>
          </a:xfrm>
          <a:prstGeom prst="roundRect">
            <a:avLst>
              <a:gd name="adj" fmla="val 23438"/>
            </a:avLst>
          </a:prstGeom>
          <a:solidFill>
            <a:srgbClr val="E8F0FE"/>
          </a:solidFill>
          <a:ln/>
        </p:spPr>
      </p:sp>
      <p:pic>
        <p:nvPicPr>
          <p:cNvPr id="34" name="Image 10" descr="ellipse"/>
          <p:cNvPicPr>
            <a:picLocks noChangeAspect="1"/>
          </p:cNvPicPr>
          <p:nvPr/>
        </p:nvPicPr>
        <p:blipFill>
          <a:blip r:embed="rId4"/>
          <a:srcRect/>
          <a:stretch/>
        </p:blipFill>
        <p:spPr>
          <a:xfrm>
            <a:off x="6346825" y="3002282"/>
            <a:ext cx="76200" cy="76200"/>
          </a:xfrm>
          <a:prstGeom prst="rect">
            <a:avLst/>
          </a:prstGeom>
        </p:spPr>
      </p:pic>
      <p:sp>
        <p:nvSpPr>
          <p:cNvPr id="35" name="Text 22"/>
          <p:cNvSpPr/>
          <p:nvPr/>
        </p:nvSpPr>
        <p:spPr>
          <a:xfrm>
            <a:off x="6486525" y="2941321"/>
            <a:ext cx="94259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Mobile App</a:t>
            </a:r>
            <a:endParaRPr lang="en-US" sz="1200" dirty="0"/>
          </a:p>
        </p:txBody>
      </p:sp>
      <p:sp>
        <p:nvSpPr>
          <p:cNvPr id="36" name="Shape 23"/>
          <p:cNvSpPr/>
          <p:nvPr/>
        </p:nvSpPr>
        <p:spPr>
          <a:xfrm>
            <a:off x="3990658" y="3279139"/>
            <a:ext cx="2191068" cy="325120"/>
          </a:xfrm>
          <a:prstGeom prst="roundRect">
            <a:avLst>
              <a:gd name="adj" fmla="val 23438"/>
            </a:avLst>
          </a:prstGeom>
          <a:solidFill>
            <a:srgbClr val="E8F0FE"/>
          </a:solidFill>
          <a:ln/>
        </p:spPr>
      </p:sp>
      <p:pic>
        <p:nvPicPr>
          <p:cNvPr id="37" name="Image 11" descr="ellipse"/>
          <p:cNvPicPr>
            <a:picLocks noChangeAspect="1"/>
          </p:cNvPicPr>
          <p:nvPr/>
        </p:nvPicPr>
        <p:blipFill>
          <a:blip r:embed="rId4"/>
          <a:srcRect/>
          <a:stretch/>
        </p:blipFill>
        <p:spPr>
          <a:xfrm>
            <a:off x="4079558" y="3403600"/>
            <a:ext cx="76200" cy="76200"/>
          </a:xfrm>
          <a:prstGeom prst="rect">
            <a:avLst/>
          </a:prstGeom>
        </p:spPr>
      </p:pic>
      <p:sp>
        <p:nvSpPr>
          <p:cNvPr id="38" name="Text 24"/>
          <p:cNvSpPr/>
          <p:nvPr/>
        </p:nvSpPr>
        <p:spPr>
          <a:xfrm>
            <a:off x="4219258" y="3342639"/>
            <a:ext cx="1962468"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AI Attendance Prediction</a:t>
            </a:r>
            <a:endParaRPr lang="en-US" sz="1200" dirty="0"/>
          </a:p>
        </p:txBody>
      </p:sp>
      <p:sp>
        <p:nvSpPr>
          <p:cNvPr id="39" name="Shape 25"/>
          <p:cNvSpPr/>
          <p:nvPr/>
        </p:nvSpPr>
        <p:spPr>
          <a:xfrm>
            <a:off x="6257925" y="3279139"/>
            <a:ext cx="2191068" cy="325120"/>
          </a:xfrm>
          <a:prstGeom prst="roundRect">
            <a:avLst>
              <a:gd name="adj" fmla="val 23438"/>
            </a:avLst>
          </a:prstGeom>
          <a:solidFill>
            <a:srgbClr val="E8F0FE"/>
          </a:solidFill>
          <a:ln/>
        </p:spPr>
      </p:sp>
      <p:pic>
        <p:nvPicPr>
          <p:cNvPr id="40" name="Image 12" descr="ellipse"/>
          <p:cNvPicPr>
            <a:picLocks noChangeAspect="1"/>
          </p:cNvPicPr>
          <p:nvPr/>
        </p:nvPicPr>
        <p:blipFill>
          <a:blip r:embed="rId4"/>
          <a:srcRect/>
          <a:stretch/>
        </p:blipFill>
        <p:spPr>
          <a:xfrm>
            <a:off x="6346825" y="3403600"/>
            <a:ext cx="76200" cy="76200"/>
          </a:xfrm>
          <a:prstGeom prst="rect">
            <a:avLst/>
          </a:prstGeom>
        </p:spPr>
      </p:pic>
      <p:sp>
        <p:nvSpPr>
          <p:cNvPr id="41" name="Text 26"/>
          <p:cNvSpPr/>
          <p:nvPr/>
        </p:nvSpPr>
        <p:spPr>
          <a:xfrm>
            <a:off x="6486525" y="3342639"/>
            <a:ext cx="1962468"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430"/>
                </a:solidFill>
                <a:latin typeface="IBM Plex Sans" pitchFamily="34" charset="0"/>
                <a:ea typeface="IBM Plex Sans" pitchFamily="34" charset="-122"/>
                <a:cs typeface="IBM Plex Sans" pitchFamily="34" charset="-120"/>
              </a:rPr>
              <a:t>Offline Attendance Sync</a:t>
            </a:r>
            <a:endParaRPr lang="en-US" sz="1200" dirty="0"/>
          </a:p>
        </p:txBody>
      </p:sp>
      <p:sp>
        <p:nvSpPr>
          <p:cNvPr id="42" name="Shape 27"/>
          <p:cNvSpPr/>
          <p:nvPr/>
        </p:nvSpPr>
        <p:spPr>
          <a:xfrm>
            <a:off x="8787447" y="1593214"/>
            <a:ext cx="2588577" cy="2839720"/>
          </a:xfrm>
          <a:prstGeom prst="roundRect">
            <a:avLst>
              <a:gd name="adj" fmla="val 5765"/>
            </a:avLst>
          </a:prstGeom>
          <a:solidFill>
            <a:srgbClr val="FDFEFF"/>
          </a:solidFill>
          <a:ln w="6350">
            <a:solidFill>
              <a:srgbClr val="DCE5F0"/>
            </a:solidFill>
            <a:prstDash val="solid"/>
          </a:ln>
        </p:spPr>
      </p:sp>
      <p:sp>
        <p:nvSpPr>
          <p:cNvPr id="43" name="Text 28"/>
          <p:cNvSpPr/>
          <p:nvPr/>
        </p:nvSpPr>
        <p:spPr>
          <a:xfrm>
            <a:off x="8967153" y="1772921"/>
            <a:ext cx="229604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563EB"/>
                </a:solidFill>
                <a:latin typeface="IBM Plex Sans" pitchFamily="34" charset="0"/>
                <a:ea typeface="IBM Plex Sans" pitchFamily="34" charset="-122"/>
                <a:cs typeface="IBM Plex Sans" pitchFamily="34" charset="-120"/>
              </a:rPr>
              <a:t>SCALABILITY</a:t>
            </a:r>
            <a:endParaRPr lang="en-US" sz="1200" dirty="0"/>
          </a:p>
        </p:txBody>
      </p:sp>
      <p:pic>
        <p:nvPicPr>
          <p:cNvPr id="44" name="Image 13" descr="Book"/>
          <p:cNvPicPr>
            <a:picLocks noChangeAspect="1"/>
          </p:cNvPicPr>
          <p:nvPr/>
        </p:nvPicPr>
        <p:blipFill>
          <a:blip r:embed="rId5"/>
          <a:srcRect/>
          <a:stretch/>
        </p:blipFill>
        <p:spPr>
          <a:xfrm>
            <a:off x="8967153" y="2089150"/>
            <a:ext cx="203200" cy="203200"/>
          </a:xfrm>
          <a:prstGeom prst="rect">
            <a:avLst/>
          </a:prstGeom>
        </p:spPr>
      </p:pic>
      <p:sp>
        <p:nvSpPr>
          <p:cNvPr id="45" name="Text 29"/>
          <p:cNvSpPr/>
          <p:nvPr/>
        </p:nvSpPr>
        <p:spPr>
          <a:xfrm>
            <a:off x="9246553" y="2075182"/>
            <a:ext cx="71151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Schools</a:t>
            </a:r>
            <a:endParaRPr lang="en-US" sz="1300" dirty="0"/>
          </a:p>
        </p:txBody>
      </p:sp>
      <p:pic>
        <p:nvPicPr>
          <p:cNvPr id="46" name="Image 14" descr="GraduationCap"/>
          <p:cNvPicPr>
            <a:picLocks noChangeAspect="1"/>
          </p:cNvPicPr>
          <p:nvPr/>
        </p:nvPicPr>
        <p:blipFill>
          <a:blip r:embed="rId6"/>
          <a:srcRect/>
          <a:stretch/>
        </p:blipFill>
        <p:spPr>
          <a:xfrm>
            <a:off x="8967153" y="2409189"/>
            <a:ext cx="203200" cy="203200"/>
          </a:xfrm>
          <a:prstGeom prst="rect">
            <a:avLst/>
          </a:prstGeom>
        </p:spPr>
      </p:pic>
      <p:sp>
        <p:nvSpPr>
          <p:cNvPr id="47" name="Text 30"/>
          <p:cNvSpPr/>
          <p:nvPr/>
        </p:nvSpPr>
        <p:spPr>
          <a:xfrm>
            <a:off x="9246553" y="2395221"/>
            <a:ext cx="77190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Colleges</a:t>
            </a:r>
            <a:endParaRPr lang="en-US" sz="1300" dirty="0"/>
          </a:p>
        </p:txBody>
      </p:sp>
      <p:pic>
        <p:nvPicPr>
          <p:cNvPr id="48" name="Image 15" descr="Lightbulb"/>
          <p:cNvPicPr>
            <a:picLocks noChangeAspect="1"/>
          </p:cNvPicPr>
          <p:nvPr/>
        </p:nvPicPr>
        <p:blipFill>
          <a:blip r:embed="rId7"/>
          <a:srcRect/>
          <a:stretch/>
        </p:blipFill>
        <p:spPr>
          <a:xfrm>
            <a:off x="8967153" y="2729232"/>
            <a:ext cx="203200" cy="203200"/>
          </a:xfrm>
          <a:prstGeom prst="rect">
            <a:avLst/>
          </a:prstGeom>
        </p:spPr>
      </p:pic>
      <p:sp>
        <p:nvSpPr>
          <p:cNvPr id="49" name="Text 31"/>
          <p:cNvSpPr/>
          <p:nvPr/>
        </p:nvSpPr>
        <p:spPr>
          <a:xfrm>
            <a:off x="9246553" y="2715261"/>
            <a:ext cx="107184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Universities</a:t>
            </a:r>
            <a:endParaRPr lang="en-US" sz="1300" dirty="0"/>
          </a:p>
        </p:txBody>
      </p:sp>
      <p:pic>
        <p:nvPicPr>
          <p:cNvPr id="50" name="Image 16" descr="Users"/>
          <p:cNvPicPr>
            <a:picLocks noChangeAspect="1"/>
          </p:cNvPicPr>
          <p:nvPr/>
        </p:nvPicPr>
        <p:blipFill>
          <a:blip r:embed="rId8"/>
          <a:srcRect/>
          <a:stretch/>
        </p:blipFill>
        <p:spPr>
          <a:xfrm>
            <a:off x="8967153" y="3049271"/>
            <a:ext cx="203200" cy="203200"/>
          </a:xfrm>
          <a:prstGeom prst="rect">
            <a:avLst/>
          </a:prstGeom>
        </p:spPr>
      </p:pic>
      <p:sp>
        <p:nvSpPr>
          <p:cNvPr id="51" name="Text 32"/>
          <p:cNvSpPr/>
          <p:nvPr/>
        </p:nvSpPr>
        <p:spPr>
          <a:xfrm>
            <a:off x="9246553" y="3035300"/>
            <a:ext cx="15874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Corporate Offices</a:t>
            </a:r>
            <a:endParaRPr lang="en-US" sz="1300" dirty="0"/>
          </a:p>
        </p:txBody>
      </p:sp>
      <p:pic>
        <p:nvPicPr>
          <p:cNvPr id="52" name="Image 17" descr="Tool"/>
          <p:cNvPicPr>
            <a:picLocks noChangeAspect="1"/>
          </p:cNvPicPr>
          <p:nvPr/>
        </p:nvPicPr>
        <p:blipFill>
          <a:blip r:embed="rId9"/>
          <a:srcRect/>
          <a:stretch/>
        </p:blipFill>
        <p:spPr>
          <a:xfrm>
            <a:off x="8967153" y="3369311"/>
            <a:ext cx="203200" cy="203200"/>
          </a:xfrm>
          <a:prstGeom prst="rect">
            <a:avLst/>
          </a:prstGeom>
        </p:spPr>
      </p:pic>
      <p:sp>
        <p:nvSpPr>
          <p:cNvPr id="53" name="Text 33"/>
          <p:cNvSpPr/>
          <p:nvPr/>
        </p:nvSpPr>
        <p:spPr>
          <a:xfrm>
            <a:off x="9246553" y="3355339"/>
            <a:ext cx="166135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IBM Plex Sans" pitchFamily="34" charset="0"/>
                <a:ea typeface="IBM Plex Sans" pitchFamily="34" charset="-122"/>
                <a:cs typeface="IBM Plex Sans" pitchFamily="34" charset="-120"/>
              </a:rPr>
              <a:t>Training Institutes</a:t>
            </a:r>
            <a:endParaRPr lang="en-US" sz="1300" dirty="0"/>
          </a:p>
        </p:txBody>
      </p:sp>
      <p:sp>
        <p:nvSpPr>
          <p:cNvPr id="54" name="Shape 34"/>
          <p:cNvSpPr/>
          <p:nvPr/>
        </p:nvSpPr>
        <p:spPr>
          <a:xfrm>
            <a:off x="812800" y="4588511"/>
            <a:ext cx="10566400" cy="1253490"/>
          </a:xfrm>
          <a:prstGeom prst="roundRect">
            <a:avLst>
              <a:gd name="adj" fmla="val 12158"/>
            </a:avLst>
          </a:prstGeom>
          <a:solidFill>
            <a:srgbClr val="1B2430"/>
          </a:solidFill>
          <a:ln/>
        </p:spPr>
      </p:sp>
      <p:sp>
        <p:nvSpPr>
          <p:cNvPr id="55" name="Text 35"/>
          <p:cNvSpPr/>
          <p:nvPr/>
        </p:nvSpPr>
        <p:spPr>
          <a:xfrm>
            <a:off x="1066800" y="4791711"/>
            <a:ext cx="3139440" cy="532130"/>
          </a:xfrm>
          <a:prstGeom prst="rect">
            <a:avLst/>
          </a:prstGeom>
          <a:noFill/>
          <a:ln/>
        </p:spPr>
        <p:txBody>
          <a:bodyPr wrap="square" lIns="0" tIns="0" rIns="0" bIns="0" rtlCol="0" anchor="t">
            <a:normAutofit/>
          </a:bodyPr>
          <a:lstStyle/>
          <a:p>
            <a:pPr marL="0" indent="0" algn="l">
              <a:lnSpc>
                <a:spcPts val="3990"/>
              </a:lnSpc>
              <a:buNone/>
            </a:pPr>
            <a:r>
              <a:rPr lang="en-US" sz="3800" b="1" kern="0" spc="100" dirty="0">
                <a:solidFill>
                  <a:srgbClr val="FDFEFF"/>
                </a:solidFill>
                <a:latin typeface="Rubik" pitchFamily="34" charset="0"/>
                <a:ea typeface="Rubik" pitchFamily="34" charset="-122"/>
                <a:cs typeface="Rubik" pitchFamily="34" charset="-120"/>
              </a:rPr>
              <a:t>THANK YOU</a:t>
            </a:r>
            <a:endParaRPr lang="en-US" sz="3800" dirty="0"/>
          </a:p>
        </p:txBody>
      </p:sp>
      <p:sp>
        <p:nvSpPr>
          <p:cNvPr id="56" name="Text 36"/>
          <p:cNvSpPr/>
          <p:nvPr/>
        </p:nvSpPr>
        <p:spPr>
          <a:xfrm>
            <a:off x="1066800" y="5336539"/>
            <a:ext cx="313944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38BDF8"/>
                </a:solidFill>
                <a:latin typeface="IBM Plex Sans" pitchFamily="34" charset="0"/>
                <a:ea typeface="IBM Plex Sans" pitchFamily="34" charset="-122"/>
                <a:cs typeface="IBM Plex Sans" pitchFamily="34" charset="-120"/>
              </a:rPr>
              <a:t>Questions &amp; Answers</a:t>
            </a:r>
            <a:endParaRPr lang="en-US" sz="1700" dirty="0"/>
          </a:p>
        </p:txBody>
      </p:sp>
      <p:sp>
        <p:nvSpPr>
          <p:cNvPr id="57" name="Text 37"/>
          <p:cNvSpPr/>
          <p:nvPr/>
        </p:nvSpPr>
        <p:spPr>
          <a:xfrm>
            <a:off x="4419600" y="4948557"/>
            <a:ext cx="3845814" cy="5588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C5D0DE"/>
                </a:solidFill>
                <a:latin typeface="IBM Plex Sans" pitchFamily="34" charset="0"/>
                <a:ea typeface="IBM Plex Sans" pitchFamily="34" charset="-122"/>
                <a:cs typeface="IBM Plex Sans" pitchFamily="34" charset="-120"/>
              </a:rPr>
              <a:t>"Making attendance smarter, faster, and more secure with modern technology."</a:t>
            </a:r>
            <a:endParaRPr lang="en-US" sz="1500" dirty="0"/>
          </a:p>
        </p:txBody>
      </p:sp>
      <p:sp>
        <p:nvSpPr>
          <p:cNvPr id="58" name="Text 38"/>
          <p:cNvSpPr/>
          <p:nvPr/>
        </p:nvSpPr>
        <p:spPr>
          <a:xfrm>
            <a:off x="8458200" y="4813936"/>
            <a:ext cx="274701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38BDF8"/>
                </a:solidFill>
                <a:latin typeface="IBM Plex Sans" pitchFamily="34" charset="0"/>
                <a:ea typeface="IBM Plex Sans" pitchFamily="34" charset="-122"/>
                <a:cs typeface="IBM Plex Sans" pitchFamily="34" charset="-120"/>
              </a:rPr>
              <a:t>CONTACT</a:t>
            </a:r>
            <a:endParaRPr lang="en-US" sz="1200" dirty="0"/>
          </a:p>
        </p:txBody>
      </p:sp>
      <p:sp>
        <p:nvSpPr>
          <p:cNvPr id="59" name="Text 39"/>
          <p:cNvSpPr/>
          <p:nvPr/>
        </p:nvSpPr>
        <p:spPr>
          <a:xfrm>
            <a:off x="8458200" y="5090796"/>
            <a:ext cx="274701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DFEFF"/>
                </a:solidFill>
                <a:latin typeface="IBM Plex Sans" pitchFamily="34" charset="0"/>
                <a:ea typeface="IBM Plex Sans" pitchFamily="34" charset="-122"/>
                <a:cs typeface="IBM Plex Sans" pitchFamily="34" charset="-120"/>
              </a:rPr>
              <a:t>[your-email@example.com]</a:t>
            </a:r>
            <a:endParaRPr lang="en-US" sz="1300" dirty="0"/>
          </a:p>
        </p:txBody>
      </p:sp>
      <p:sp>
        <p:nvSpPr>
          <p:cNvPr id="60" name="Text 40"/>
          <p:cNvSpPr/>
          <p:nvPr/>
        </p:nvSpPr>
        <p:spPr>
          <a:xfrm>
            <a:off x="8458200" y="5385436"/>
            <a:ext cx="274701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DFEFF"/>
                </a:solidFill>
                <a:latin typeface="IBM Plex Sans" pitchFamily="34" charset="0"/>
                <a:ea typeface="IBM Plex Sans" pitchFamily="34" charset="-122"/>
                <a:cs typeface="IBM Plex Sans" pitchFamily="34" charset="-120"/>
              </a:rPr>
              <a:t>github.com/[username]/[repo]</a:t>
            </a:r>
            <a:endParaRPr lang="en-US" sz="1300" dirty="0"/>
          </a:p>
        </p:txBody>
      </p:sp>
      <p:sp>
        <p:nvSpPr>
          <p:cNvPr id="61" name="Text 41"/>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5"/>
                </a:solidFill>
                <a:latin typeface="IBM Plex Sans" pitchFamily="34" charset="0"/>
                <a:ea typeface="IBM Plex Sans" pitchFamily="34" charset="-122"/>
                <a:cs typeface="IBM Plex Sans" pitchFamily="34" charset="-120"/>
              </a:rPr>
              <a:t>Smart Attendance System · Secure QR Verification</a:t>
            </a:r>
            <a:endParaRPr lang="en-US" sz="1200" dirty="0"/>
          </a:p>
        </p:txBody>
      </p:sp>
      <p:sp>
        <p:nvSpPr>
          <p:cNvPr id="62" name="Text 42"/>
          <p:cNvSpPr/>
          <p:nvPr/>
        </p:nvSpPr>
        <p:spPr>
          <a:xfrm>
            <a:off x="10312400" y="6238239"/>
            <a:ext cx="1066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5"/>
                </a:solidFill>
                <a:latin typeface="IBM Plex Sans" pitchFamily="34" charset="0"/>
                <a:ea typeface="IBM Plex Sans" pitchFamily="34" charset="-122"/>
                <a:cs typeface="IBM Plex Sans" pitchFamily="34" charset="-120"/>
              </a:rPr>
              <a:t>07 / 07</a:t>
            </a:r>
            <a:endParaRPr lang="en-US" sz="1200" dirty="0"/>
          </a:p>
        </p:txBody>
      </p:sp>
    </p:spTree>
  </p:cSld>
  <p:clrMapOvr>
    <a:masterClrMapping/>
  </p:clrMapOvr>
</p:sld>
</file>

<file path=ppt/theme/theme1.xml><?xml version="1.0" encoding="utf-8"?>
<a:theme xmlns:a="http://schemas.openxmlformats.org/drawingml/2006/main" name="Smart Attendance System using MERN Stack with Secure QR Verification">
  <a:themeElements>
    <a:clrScheme name="Smart Attendance System using MERN Stack with Secure QR Verification">
      <a:dk1>
        <a:srgbClr val="1B2430"/>
      </a:dk1>
      <a:lt1>
        <a:srgbClr val="F5F8FC"/>
      </a:lt1>
      <a:dk2>
        <a:srgbClr val="525963"/>
      </a:dk2>
      <a:lt2>
        <a:srgbClr val="DFE3E8"/>
      </a:lt2>
      <a:accent1>
        <a:srgbClr val="2563EB"/>
      </a:accent1>
      <a:accent2>
        <a:srgbClr val="1D4ED8"/>
      </a:accent2>
      <a:accent3>
        <a:srgbClr val="38BDF8"/>
      </a:accent3>
      <a:accent4>
        <a:srgbClr val="3B82F6"/>
      </a:accent4>
      <a:accent5>
        <a:srgbClr val="60A5FA"/>
      </a:accent5>
      <a:accent6>
        <a:srgbClr val="93C5FD"/>
      </a:accent6>
      <a:hlink>
        <a:srgbClr val="0563C1"/>
      </a:hlink>
      <a:folHlink>
        <a:srgbClr val="954F72"/>
      </a:folHlink>
    </a:clrScheme>
    <a:fontScheme name="Smart Attendance System using MERN Stack with Secure QR Verific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994</Words>
  <Application>Microsoft Office PowerPoint</Application>
  <PresentationFormat>Widescreen</PresentationFormat>
  <Paragraphs>231</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 Narrow</vt:lpstr>
      <vt:lpstr>Arial</vt:lpstr>
      <vt:lpstr>IBM Plex Sans</vt:lpstr>
      <vt:lpstr>Rubik</vt:lpstr>
      <vt:lpstr>Wingdings</vt:lpstr>
      <vt:lpstr>Smart Attendance System using MERN Stack with Secure QR Verification</vt:lpstr>
      <vt:lpstr>PowerPoint Presentation</vt:lpstr>
      <vt:lpstr>Smart Attendance System</vt:lpstr>
      <vt:lpstr>The Challenge</vt:lpstr>
      <vt:lpstr>Our Innovation</vt:lpstr>
      <vt:lpstr>System Workflow</vt:lpstr>
      <vt:lpstr>Technology &amp; Algorithms</vt:lpstr>
      <vt:lpstr>Demo &amp; Impact</vt:lpstr>
      <vt:lpstr>Future Vision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Attendance System using MERN Stack with Secure QR Verification</dc:title>
  <dc:subject/>
  <dc:creator/>
  <cp:lastModifiedBy>Venkata Teja</cp:lastModifiedBy>
  <cp:revision>3</cp:revision>
  <dcterms:created xsi:type="dcterms:W3CDTF">2026-10-09T16:47:24Z</dcterms:created>
  <dcterms:modified xsi:type="dcterms:W3CDTF">2026-10-09T18:00:11Z</dcterms:modified>
</cp:coreProperties>
</file>